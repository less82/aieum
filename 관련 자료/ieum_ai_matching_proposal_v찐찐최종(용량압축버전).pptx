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8" r:id="rId4"/>
    <p:sldId id="259" r:id="rId5"/>
    <p:sldId id="260" r:id="rId6"/>
    <p:sldId id="262" r:id="rId7"/>
    <p:sldId id="272" r:id="rId8"/>
    <p:sldId id="273" r:id="rId9"/>
    <p:sldId id="261" r:id="rId10"/>
    <p:sldId id="263" r:id="rId11"/>
    <p:sldId id="274" r:id="rId12"/>
    <p:sldId id="264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424" autoAdjust="0"/>
  </p:normalViewPr>
  <p:slideViewPr>
    <p:cSldViewPr snapToGrid="0" snapToObjects="1">
      <p:cViewPr>
        <p:scale>
          <a:sx n="75" d="100"/>
          <a:sy n="75" d="100"/>
        </p:scale>
        <p:origin x="124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757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 저희는 김태민</a:t>
            </a:r>
            <a:r>
              <a:rPr lang="en-US" altLang="ko-KR" dirty="0"/>
              <a:t>, </a:t>
            </a:r>
            <a:r>
              <a:rPr lang="ko-KR" altLang="en-US" dirty="0" err="1"/>
              <a:t>나익준</a:t>
            </a:r>
            <a:r>
              <a:rPr lang="ko-KR" altLang="en-US" dirty="0"/>
              <a:t> 김태준</a:t>
            </a:r>
            <a:r>
              <a:rPr lang="en-US" altLang="ko-KR" dirty="0"/>
              <a:t>, </a:t>
            </a:r>
            <a:r>
              <a:rPr lang="ko-KR" altLang="en-US" dirty="0"/>
              <a:t>오현민으로 이루어진 팀 이음이고 저는 발표를 맡은 오현민입니다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</a:t>
            </a:r>
            <a:r>
              <a:rPr lang="en-US" altLang="ko-KR" dirty="0"/>
              <a:t>PPT </a:t>
            </a:r>
            <a:r>
              <a:rPr lang="ko-KR" altLang="en-US" dirty="0"/>
              <a:t>화사하죠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오늘 저희가 소개할 서비스 이름은 이음입니다</a:t>
            </a:r>
            <a:r>
              <a:rPr lang="en-US" altLang="ko-KR" dirty="0"/>
              <a:t>. </a:t>
            </a:r>
            <a:r>
              <a:rPr lang="ko-KR" altLang="en-US" dirty="0"/>
              <a:t>말 그대로 사람과 사람을 이어주는 서비스인데요</a:t>
            </a:r>
            <a:r>
              <a:rPr lang="en-US" altLang="ko-KR" dirty="0"/>
              <a:t>. </a:t>
            </a:r>
            <a:r>
              <a:rPr lang="ko-KR" altLang="en-US" dirty="0"/>
              <a:t>단순히 만남을 갖게 해주는 것이 아닌 만남의 환경 자체를 재설계하는 것을 목표로 했습니다</a:t>
            </a:r>
            <a:r>
              <a:rPr lang="en-US" altLang="ko-KR" dirty="0"/>
              <a:t>. </a:t>
            </a:r>
            <a:r>
              <a:rPr lang="ko-KR" altLang="en-US" dirty="0"/>
              <a:t>어떤 문제를 해결하려 하는지 말씀드리겠습니다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BED5-1840-EAE6-1BD4-929368BA9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78045-B262-96CD-324C-1E1C7B868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F342A-C201-D1E1-6B19-89E18F83A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팀의 서비스 기획 배경은 만남 결핍</a:t>
            </a:r>
            <a:r>
              <a:rPr lang="en-US" altLang="ko-KR" dirty="0"/>
              <a:t>, </a:t>
            </a:r>
            <a:r>
              <a:rPr lang="ko-KR" altLang="en-US" dirty="0"/>
              <a:t>저출산 위기입니다</a:t>
            </a:r>
            <a:r>
              <a:rPr lang="en-US" altLang="ko-KR" dirty="0"/>
              <a:t>. </a:t>
            </a:r>
            <a:r>
              <a:rPr lang="ko-KR" altLang="en-US" dirty="0" err="1"/>
              <a:t>저출산을</a:t>
            </a:r>
            <a:r>
              <a:rPr lang="ko-KR" altLang="en-US" dirty="0"/>
              <a:t> 해결하기 위해 많은 정부 정책들이 있지만 근본적으로는 먼저 결혼을 </a:t>
            </a:r>
            <a:r>
              <a:rPr lang="ko-KR" altLang="en-US" dirty="0" err="1"/>
              <a:t>해야하고</a:t>
            </a:r>
            <a:r>
              <a:rPr lang="ko-KR" altLang="en-US" dirty="0"/>
              <a:t> 결혼을 하려면 먼저 연애를 </a:t>
            </a:r>
            <a:r>
              <a:rPr lang="ko-KR" altLang="en-US" dirty="0" err="1"/>
              <a:t>해야하겠죠</a:t>
            </a:r>
            <a:r>
              <a:rPr lang="en-US" altLang="ko-KR" dirty="0"/>
              <a:t>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839C5-382C-51F0-68C8-E81295A7C6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32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하지만 지금 한국 청년들은 바쁜 일상</a:t>
            </a:r>
            <a:r>
              <a:rPr lang="en-US" altLang="ko-KR" dirty="0"/>
              <a:t>, </a:t>
            </a:r>
            <a:r>
              <a:rPr lang="ko-KR" altLang="en-US" dirty="0"/>
              <a:t>축소된 오프라인 네트워크로 인해</a:t>
            </a:r>
          </a:p>
          <a:p>
            <a:r>
              <a:rPr lang="ko-KR" altLang="en-US" dirty="0"/>
              <a:t>학교를 졸업하고 나면 새로운 사람을 자연스럽게 만날 기회가 줄어들게 됩니다</a:t>
            </a:r>
            <a:r>
              <a:rPr lang="en-US" altLang="ko-KR" dirty="0"/>
              <a:t>. </a:t>
            </a:r>
            <a:r>
              <a:rPr lang="ko-KR" altLang="en-US" dirty="0"/>
              <a:t>그래서 많은 분들이 기존 </a:t>
            </a:r>
            <a:r>
              <a:rPr lang="ko-KR" altLang="en-US" dirty="0" err="1"/>
              <a:t>데이팅</a:t>
            </a:r>
            <a:r>
              <a:rPr lang="ko-KR" altLang="en-US" dirty="0"/>
              <a:t> 앱을 찾아가는데요</a:t>
            </a:r>
            <a:r>
              <a:rPr lang="en-US" altLang="ko-KR" dirty="0"/>
              <a:t>. </a:t>
            </a:r>
            <a:r>
              <a:rPr lang="ko-KR" altLang="en-US" dirty="0"/>
              <a:t>기존 서비스는 기존 스펙과 외모 위주였고 양적 매칭에 사용자들이 지쳐 나가 떨어지는 문제가 있었습니다</a:t>
            </a:r>
            <a:r>
              <a:rPr lang="en-US" altLang="ko-KR" dirty="0"/>
              <a:t>. </a:t>
            </a:r>
            <a:r>
              <a:rPr lang="ko-KR" altLang="en-US" dirty="0"/>
              <a:t>이러한 문제를 해결하기 위해 저희는 질적 만남을 설계하려 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시작하기에 앞서 간단한 질문 하나 드릴까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연애하고 계신 분들 손 한 번 </a:t>
            </a:r>
            <a:r>
              <a:rPr lang="ko-KR" altLang="en-US" dirty="0" err="1"/>
              <a:t>들어주시겠어요</a:t>
            </a:r>
            <a:r>
              <a:rPr lang="en-US" altLang="ko-KR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반은 이러이러한 비율이군요</a:t>
            </a:r>
          </a:p>
          <a:p>
            <a:r>
              <a:rPr lang="ko-KR" altLang="en-US" dirty="0"/>
              <a:t>인구복지협회의 </a:t>
            </a:r>
            <a:r>
              <a:rPr lang="ko-KR" altLang="en-US" dirty="0" err="1"/>
              <a:t>저출산인식조사에</a:t>
            </a:r>
            <a:r>
              <a:rPr lang="ko-KR" altLang="en-US" dirty="0"/>
              <a:t> 나온 결과에 따르면 </a:t>
            </a:r>
            <a:r>
              <a:rPr lang="en-US" altLang="ko-KR" dirty="0"/>
              <a:t>3</a:t>
            </a:r>
            <a:r>
              <a:rPr lang="ko-KR" altLang="en-US" dirty="0"/>
              <a:t>명 중 </a:t>
            </a:r>
            <a:r>
              <a:rPr lang="en-US" altLang="ko-KR" dirty="0"/>
              <a:t>2</a:t>
            </a:r>
            <a:r>
              <a:rPr lang="ko-KR" altLang="en-US" dirty="0"/>
              <a:t>명은 연애를 하고 있지 않다고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그렇다면 다들 결혼 생각은 </a:t>
            </a:r>
            <a:r>
              <a:rPr lang="ko-KR" altLang="en-US" dirty="0" err="1"/>
              <a:t>있으신가요</a:t>
            </a:r>
            <a:r>
              <a:rPr lang="en-US" altLang="ko-KR" dirty="0"/>
              <a:t>? (</a:t>
            </a:r>
            <a:r>
              <a:rPr lang="ko-KR" altLang="en-US" dirty="0"/>
              <a:t>대답 듣기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 </a:t>
            </a:r>
            <a:r>
              <a:rPr lang="ko-KR" altLang="en-US" dirty="0" err="1"/>
              <a:t>그렇군요</a:t>
            </a:r>
            <a:r>
              <a:rPr lang="ko-KR" altLang="en-US" dirty="0"/>
              <a:t> </a:t>
            </a:r>
            <a:r>
              <a:rPr lang="en-US" altLang="ko-KR" dirty="0"/>
              <a:t>2000</a:t>
            </a:r>
            <a:r>
              <a:rPr lang="ko-KR" altLang="en-US" dirty="0"/>
              <a:t>년대에는 초혼 연령이 남여 모두 </a:t>
            </a:r>
            <a:r>
              <a:rPr lang="en-US" altLang="ko-KR" dirty="0"/>
              <a:t>20</a:t>
            </a:r>
            <a:r>
              <a:rPr lang="ko-KR" altLang="en-US" dirty="0"/>
              <a:t>대인 것에 비해 현재 평균 초혼 연령은 </a:t>
            </a:r>
            <a:r>
              <a:rPr lang="en-US" altLang="ko-KR" dirty="0"/>
              <a:t>30</a:t>
            </a:r>
            <a:r>
              <a:rPr lang="ko-KR" altLang="en-US" dirty="0"/>
              <a:t>대 초반으로 지속적으로 후행화 되고 있습니다</a:t>
            </a:r>
            <a:r>
              <a:rPr lang="en-US" altLang="ko-KR" dirty="0"/>
              <a:t>. 20</a:t>
            </a:r>
            <a:r>
              <a:rPr lang="ko-KR" altLang="en-US" dirty="0"/>
              <a:t>대 미혼율은 </a:t>
            </a:r>
            <a:r>
              <a:rPr lang="en-US" altLang="ko-KR" dirty="0"/>
              <a:t>92.8%</a:t>
            </a:r>
            <a:r>
              <a:rPr lang="ko-KR" altLang="en-US" dirty="0"/>
              <a:t>로 </a:t>
            </a:r>
            <a:r>
              <a:rPr lang="en-US" altLang="ko-KR" dirty="0"/>
              <a:t>2010</a:t>
            </a:r>
            <a:r>
              <a:rPr lang="ko-KR" altLang="en-US" dirty="0"/>
              <a:t>년 대비 </a:t>
            </a:r>
            <a:r>
              <a:rPr lang="en-US" altLang="ko-KR" dirty="0"/>
              <a:t>+21.8%</a:t>
            </a:r>
            <a:r>
              <a:rPr lang="ko-KR" altLang="en-US" dirty="0"/>
              <a:t>포인트 증가했습니다</a:t>
            </a:r>
            <a:r>
              <a:rPr lang="en-US" altLang="ko-KR" dirty="0"/>
              <a:t>. </a:t>
            </a:r>
            <a:r>
              <a:rPr lang="ko-KR" altLang="en-US" dirty="0"/>
              <a:t>합계출산율은 인구유지선이 </a:t>
            </a:r>
            <a:r>
              <a:rPr lang="en-US" altLang="ko-KR" dirty="0"/>
              <a:t>2.1</a:t>
            </a:r>
            <a:r>
              <a:rPr lang="ko-KR" altLang="en-US" dirty="0"/>
              <a:t>명인데 비해 </a:t>
            </a:r>
            <a:r>
              <a:rPr lang="en-US" altLang="ko-KR" dirty="0"/>
              <a:t>0.72</a:t>
            </a:r>
            <a:r>
              <a:rPr lang="ko-KR" altLang="en-US" dirty="0"/>
              <a:t>명으로 </a:t>
            </a:r>
            <a:r>
              <a:rPr lang="en-US" altLang="ko-KR" dirty="0"/>
              <a:t>2000</a:t>
            </a:r>
            <a:r>
              <a:rPr lang="ko-KR" altLang="en-US" dirty="0"/>
              <a:t>년 대비 </a:t>
            </a:r>
            <a:r>
              <a:rPr lang="en-US" altLang="ko-KR" dirty="0"/>
              <a:t>68% </a:t>
            </a:r>
            <a:r>
              <a:rPr lang="ko-KR" altLang="en-US" dirty="0"/>
              <a:t>하락했습니다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저희 이음은 이러한 위기를 극복하기 위해 가치관 정합성 기반의 고품질 매칭을 적용하여 구조적 문제를 해결하려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이러한 문제를 기회로 바꾸려고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여러분들 새로운 사람들 만날 때 </a:t>
            </a:r>
            <a:r>
              <a:rPr lang="en-US" altLang="ko-KR" dirty="0"/>
              <a:t>MBTI </a:t>
            </a:r>
            <a:r>
              <a:rPr lang="ko-KR" altLang="en-US" dirty="0"/>
              <a:t>검사 많이 하시죠</a:t>
            </a:r>
            <a:r>
              <a:rPr lang="en-US" altLang="ko-KR" dirty="0"/>
              <a:t>? </a:t>
            </a:r>
            <a:r>
              <a:rPr lang="ko-KR" altLang="en-US" dirty="0"/>
              <a:t>그러한 성향적 정합성을 중시하는 것이 첫번째 기회입니다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번째로는 국가 과제인 만큼 </a:t>
            </a:r>
            <a:r>
              <a:rPr lang="en-US" altLang="ko-KR" dirty="0"/>
              <a:t>B2G </a:t>
            </a:r>
            <a:r>
              <a:rPr lang="ko-KR" altLang="en-US" dirty="0"/>
              <a:t>연계 가능성이 </a:t>
            </a:r>
            <a:r>
              <a:rPr lang="ko-KR" altLang="en-US" dirty="0" err="1"/>
              <a:t>열려있습니다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 번째로는 고도화된 </a:t>
            </a:r>
            <a:r>
              <a:rPr lang="en-US" altLang="ko-KR" dirty="0"/>
              <a:t>AI </a:t>
            </a:r>
            <a:r>
              <a:rPr lang="ko-KR" altLang="en-US" dirty="0"/>
              <a:t>매칭과 개인 정보 보호 기술입니다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시장 분석입니다</a:t>
            </a:r>
            <a:r>
              <a:rPr lang="en-US" altLang="ko-KR" dirty="0"/>
              <a:t>. </a:t>
            </a:r>
            <a:r>
              <a:rPr lang="ko-KR" altLang="en-US" dirty="0"/>
              <a:t>전체 시장은 약 </a:t>
            </a:r>
            <a:r>
              <a:rPr lang="en-US" altLang="ko-KR" dirty="0"/>
              <a:t>9,936</a:t>
            </a:r>
            <a:r>
              <a:rPr lang="ko-KR" altLang="en-US" dirty="0"/>
              <a:t>억 원으로 전체 미혼 인구 잠재 시장입니다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유효 시장은 약 </a:t>
            </a:r>
            <a:r>
              <a:rPr lang="en-US" altLang="ko-KR" dirty="0"/>
              <a:t>2,980</a:t>
            </a:r>
            <a:r>
              <a:rPr lang="ko-KR" altLang="en-US" dirty="0"/>
              <a:t>억원으로 </a:t>
            </a:r>
            <a:r>
              <a:rPr lang="ko-KR" altLang="en-US" dirty="0" err="1"/>
              <a:t>인앱</a:t>
            </a:r>
            <a:r>
              <a:rPr lang="ko-KR" altLang="en-US" dirty="0"/>
              <a:t> 결제 및 데이트 실행 의향이 있는 핵심 수요층입니다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목표 시장은 유효 시장의 </a:t>
            </a:r>
            <a:r>
              <a:rPr lang="en-US" altLang="ko-KR" dirty="0"/>
              <a:t>2%</a:t>
            </a:r>
            <a:r>
              <a:rPr lang="ko-KR" altLang="en-US" dirty="0"/>
              <a:t>인 </a:t>
            </a:r>
            <a:r>
              <a:rPr lang="en-US" altLang="ko-KR" dirty="0"/>
              <a:t>60</a:t>
            </a:r>
            <a:r>
              <a:rPr lang="ko-KR" altLang="en-US" dirty="0"/>
              <a:t>억 원으로 </a:t>
            </a:r>
            <a:r>
              <a:rPr lang="en-US" altLang="ko-KR" dirty="0"/>
              <a:t>3</a:t>
            </a:r>
            <a:r>
              <a:rPr lang="ko-KR" altLang="en-US" dirty="0"/>
              <a:t>년 내 확보 가능한 </a:t>
            </a:r>
            <a:r>
              <a:rPr lang="en-US" altLang="ko-KR" dirty="0"/>
              <a:t>AI '</a:t>
            </a:r>
            <a:r>
              <a:rPr lang="ko-KR" altLang="en-US" dirty="0"/>
              <a:t>완주형</a:t>
            </a:r>
            <a:r>
              <a:rPr lang="en-US" altLang="ko-KR" dirty="0"/>
              <a:t>' </a:t>
            </a:r>
            <a:r>
              <a:rPr lang="ko-KR" altLang="en-US" dirty="0"/>
              <a:t>플랫폼 결제 유저입니다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유사 서비스 분석 및 차별점입니다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위피</a:t>
            </a:r>
            <a:r>
              <a:rPr lang="en-US" altLang="ko-KR" dirty="0"/>
              <a:t>, </a:t>
            </a:r>
            <a:r>
              <a:rPr lang="ko-KR" altLang="en-US" dirty="0" err="1"/>
              <a:t>데이트팝</a:t>
            </a:r>
            <a:r>
              <a:rPr lang="en-US" altLang="ko-KR" dirty="0"/>
              <a:t>, </a:t>
            </a:r>
            <a:r>
              <a:rPr lang="ko-KR" altLang="en-US" dirty="0" err="1"/>
              <a:t>힌지와</a:t>
            </a:r>
            <a:r>
              <a:rPr lang="ko-KR" altLang="en-US" dirty="0"/>
              <a:t> 같은 서비스를 </a:t>
            </a:r>
            <a:r>
              <a:rPr lang="ko-KR" altLang="en-US" dirty="0" err="1"/>
              <a:t>들어보셨나요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이 앱들과 이음의 핵심 차별점은 만남의 전 과정을 </a:t>
            </a:r>
            <a:r>
              <a:rPr lang="ko-KR" altLang="en-US" dirty="0" err="1"/>
              <a:t>케어한다는</a:t>
            </a:r>
            <a:r>
              <a:rPr lang="ko-KR" altLang="en-US" dirty="0"/>
              <a:t>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개인 패턴을 분석하여 이 사람과 맞는 이유를 설득력 있게 제시합니다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잘 맞는 사람과 만나면 아무래도 관계 </a:t>
            </a:r>
            <a:r>
              <a:rPr lang="ko-KR" altLang="en-US" dirty="0" err="1"/>
              <a:t>지속률이</a:t>
            </a:r>
            <a:r>
              <a:rPr lang="ko-KR" altLang="en-US" dirty="0"/>
              <a:t> 높아지는 효과를 기대할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전 과정을 </a:t>
            </a:r>
            <a:r>
              <a:rPr lang="ko-KR" altLang="en-US" dirty="0" err="1"/>
              <a:t>케어하며</a:t>
            </a:r>
            <a:r>
              <a:rPr lang="ko-KR" altLang="en-US" dirty="0"/>
              <a:t> 안전 사고 및 </a:t>
            </a:r>
            <a:r>
              <a:rPr lang="ko-KR" altLang="en-US" dirty="0" err="1"/>
              <a:t>노쇼</a:t>
            </a:r>
            <a:r>
              <a:rPr lang="ko-KR" altLang="en-US" dirty="0"/>
              <a:t> 리스크를 최소화합니다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</a:t>
            </a:r>
            <a:r>
              <a:rPr lang="ko-KR" altLang="en-US" dirty="0" err="1"/>
              <a:t>말씀드린것처럼</a:t>
            </a:r>
            <a:r>
              <a:rPr lang="ko-KR" altLang="en-US" dirty="0"/>
              <a:t> 기존 서비스는 외모 및 스펙 중심으로 이루어져 있습니다</a:t>
            </a:r>
            <a:r>
              <a:rPr lang="en-US" altLang="ko-KR" dirty="0"/>
              <a:t>. </a:t>
            </a:r>
            <a:r>
              <a:rPr lang="ko-KR" altLang="en-US" dirty="0"/>
              <a:t>양적 매칭은 사용자를 피로하게 하고 고객 이탈을 막지 못합니다</a:t>
            </a:r>
            <a:r>
              <a:rPr lang="en-US" altLang="ko-KR" dirty="0"/>
              <a:t>. </a:t>
            </a:r>
            <a:r>
              <a:rPr lang="ko-KR" altLang="en-US" dirty="0"/>
              <a:t>저희의 이음 서비스는 사용자의 가치관 및 성향을 심층 진단하여 사용자와 시너지가 가장 높은 상대를 추천해서 데이트를 할 수 있게 도와줍니다</a:t>
            </a:r>
            <a:r>
              <a:rPr lang="en-US" altLang="ko-KR" dirty="0"/>
              <a:t>. </a:t>
            </a:r>
            <a:r>
              <a:rPr lang="ko-KR" altLang="en-US" dirty="0" err="1"/>
              <a:t>그치만</a:t>
            </a:r>
            <a:r>
              <a:rPr lang="ko-KR" altLang="en-US" dirty="0"/>
              <a:t> 요즘 세상이 흉흉하잖아요</a:t>
            </a:r>
            <a:r>
              <a:rPr lang="en-US" altLang="ko-KR" dirty="0"/>
              <a:t>? </a:t>
            </a:r>
            <a:r>
              <a:rPr lang="ko-KR" altLang="en-US" dirty="0"/>
              <a:t>그래서 저희는 안전한 만남을 위해 </a:t>
            </a:r>
            <a:r>
              <a:rPr lang="en-US" altLang="ko-KR" dirty="0"/>
              <a:t>GPS </a:t>
            </a:r>
            <a:r>
              <a:rPr lang="ko-KR" altLang="en-US" dirty="0"/>
              <a:t>혹은 </a:t>
            </a:r>
            <a:r>
              <a:rPr lang="en-US" altLang="ko-KR" dirty="0"/>
              <a:t>QR </a:t>
            </a:r>
            <a:r>
              <a:rPr lang="ko-KR" altLang="en-US" dirty="0"/>
              <a:t>인증을 통해 데이트가 잘 이루어지는지 파악하고 몇 시간 이내 사용자 행동이 감지되지 않는다면 자동으로 신고를 해주려고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EB7DA-6B11-8CBD-DB1A-E0248A67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99FEA-63CC-C869-8275-7531E0398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37CA6-E9B5-9CFF-F7F3-AF6D3DC06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E5D71-2D5B-D020-BB40-13ED6F95B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47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앱 시연입니다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혹시 직접 앱을 다뤄보고 싶으신 분들은 </a:t>
            </a:r>
            <a:r>
              <a:rPr lang="en-US" altLang="ko-KR" dirty="0"/>
              <a:t>QR</a:t>
            </a:r>
            <a:r>
              <a:rPr lang="ko-KR" altLang="en-US" dirty="0"/>
              <a:t>코드로 링크 가져가시면 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화면에서 시작하기를 누르면 번호 인증 후 시작합니다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현재는 베타 버전으로 간단하게 테스트를 합니다</a:t>
            </a:r>
            <a:r>
              <a:rPr lang="en-US" altLang="ko-KR" dirty="0"/>
              <a:t>. </a:t>
            </a:r>
            <a:r>
              <a:rPr lang="ko-KR" altLang="en-US" dirty="0"/>
              <a:t>테스트가 끝나면 데이트 하고 싶은 시간</a:t>
            </a:r>
            <a:r>
              <a:rPr lang="en-US" altLang="ko-KR" dirty="0"/>
              <a:t>, </a:t>
            </a:r>
            <a:r>
              <a:rPr lang="ko-KR" altLang="en-US" dirty="0"/>
              <a:t>원하는 코스</a:t>
            </a:r>
            <a:r>
              <a:rPr lang="en-US" altLang="ko-KR" dirty="0"/>
              <a:t>, </a:t>
            </a:r>
            <a:r>
              <a:rPr lang="ko-KR" altLang="en-US" dirty="0"/>
              <a:t>데이트 예산을 설정하고 매칭을 시작합니다</a:t>
            </a:r>
            <a:r>
              <a:rPr lang="en-US" altLang="ko-KR" dirty="0"/>
              <a:t>. </a:t>
            </a:r>
            <a:r>
              <a:rPr lang="ko-KR" altLang="en-US" dirty="0"/>
              <a:t>매칭 상대는 아이유가 나왔네요</a:t>
            </a:r>
            <a:r>
              <a:rPr lang="en-US" altLang="ko-KR" dirty="0"/>
              <a:t>. </a:t>
            </a:r>
            <a:r>
              <a:rPr lang="ko-KR" altLang="en-US" dirty="0"/>
              <a:t>매칭을 시작하면 상대방 추천과 데이트 코스 및 동선을 시각화해서 보여줍니다</a:t>
            </a:r>
            <a:r>
              <a:rPr lang="en-US" altLang="ko-KR" dirty="0"/>
              <a:t>. </a:t>
            </a:r>
            <a:r>
              <a:rPr lang="ko-KR" altLang="en-US" dirty="0"/>
              <a:t>예산도 미리 설정해서 코스 예약을 최저가로 해주려고 합니다</a:t>
            </a:r>
            <a:r>
              <a:rPr lang="en-US" altLang="ko-KR" dirty="0"/>
              <a:t>. </a:t>
            </a:r>
            <a:r>
              <a:rPr lang="ko-KR" altLang="en-US" dirty="0"/>
              <a:t>만약 상대방과 코스가 어긋나면 매칭을 실패하고 다른 코스를 선택할 수 있게 합니다</a:t>
            </a:r>
            <a:r>
              <a:rPr lang="en-US" altLang="ko-KR" dirty="0"/>
              <a:t>. </a:t>
            </a:r>
            <a:r>
              <a:rPr lang="ko-KR" altLang="en-US" dirty="0"/>
              <a:t>데이트 약속이 잡히면 대화창을 열 수 있고 데이트 코스를 확인할 수 있는 페이지가 나옵니다</a:t>
            </a:r>
            <a:r>
              <a:rPr lang="en-US" altLang="ko-KR" dirty="0"/>
              <a:t>. GPS</a:t>
            </a:r>
            <a:r>
              <a:rPr lang="ko-KR" altLang="en-US" dirty="0"/>
              <a:t>나 </a:t>
            </a:r>
            <a:r>
              <a:rPr lang="en-US" altLang="ko-KR" dirty="0"/>
              <a:t>QR </a:t>
            </a:r>
            <a:r>
              <a:rPr lang="ko-KR" altLang="en-US" dirty="0"/>
              <a:t>체크인으로 사용자의 안전을 확인합니다</a:t>
            </a:r>
            <a:r>
              <a:rPr lang="en-US" altLang="ko-KR" dirty="0"/>
              <a:t>. </a:t>
            </a:r>
            <a:r>
              <a:rPr lang="ko-KR" altLang="en-US" dirty="0"/>
              <a:t>데이트 후에는 리뷰를 작성하게 하여 </a:t>
            </a:r>
            <a:r>
              <a:rPr lang="en-US" altLang="ko-KR" dirty="0"/>
              <a:t>AI</a:t>
            </a:r>
            <a:r>
              <a:rPr lang="ko-KR" altLang="en-US" dirty="0"/>
              <a:t>의 정확도를 높이고 사용자의 안전 귀가를 확인합니다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마지막으로 성향 리포트를 확인할 수 있는 </a:t>
            </a:r>
            <a:r>
              <a:rPr lang="ko-KR" altLang="en-US" dirty="0" err="1"/>
              <a:t>마이페이집니다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서비스 흐름입니다</a:t>
            </a:r>
            <a:r>
              <a:rPr lang="en-US" altLang="ko-KR" dirty="0"/>
              <a:t>. </a:t>
            </a:r>
            <a:r>
              <a:rPr lang="ko-KR" altLang="en-US" dirty="0"/>
              <a:t>전화번호 및 개인 정보를 입력 후 가입하면 성향 및 가치관을 진단합니다</a:t>
            </a:r>
            <a:r>
              <a:rPr lang="en-US" altLang="ko-KR" dirty="0"/>
              <a:t>. AI</a:t>
            </a:r>
            <a:r>
              <a:rPr lang="ko-KR" altLang="en-US" dirty="0"/>
              <a:t>가 분석한 심층 가치관으로 매칭을 제안합니다</a:t>
            </a:r>
            <a:r>
              <a:rPr lang="en-US" altLang="ko-KR" dirty="0"/>
              <a:t>. </a:t>
            </a:r>
            <a:r>
              <a:rPr lang="ko-KR" altLang="en-US" dirty="0"/>
              <a:t>매칭이 완료되면 간단한 대화와 데이트 코스를 확인 후 만남을 갖게 됩니다</a:t>
            </a:r>
            <a:r>
              <a:rPr lang="en-US" altLang="ko-KR" dirty="0"/>
              <a:t>. </a:t>
            </a:r>
            <a:r>
              <a:rPr lang="ko-KR" altLang="en-US" dirty="0"/>
              <a:t>사용자 피드백을 받고 매칭 알고리즘을 더욱 정확하게 할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서비스의 핵심 성과 지표는 첫 </a:t>
            </a:r>
            <a:r>
              <a:rPr lang="en-US" altLang="ko-KR" dirty="0"/>
              <a:t>7</a:t>
            </a:r>
            <a:r>
              <a:rPr lang="ko-KR" altLang="en-US" dirty="0"/>
              <a:t>일 대화 개시율을 상승시키고 </a:t>
            </a:r>
            <a:r>
              <a:rPr lang="en-US" altLang="ko-KR" dirty="0"/>
              <a:t>2</a:t>
            </a:r>
            <a:r>
              <a:rPr lang="ko-KR" altLang="en-US" dirty="0"/>
              <a:t>차 만남 전환율을 지속적으로 </a:t>
            </a:r>
            <a:r>
              <a:rPr lang="ko-KR" altLang="en-US" dirty="0" err="1"/>
              <a:t>증대시키고</a:t>
            </a:r>
            <a:r>
              <a:rPr lang="ko-KR" altLang="en-US" dirty="0"/>
              <a:t> 사용자 전반적 만족도를 극대화 하는 것입니다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기술적으로는 </a:t>
            </a:r>
            <a:r>
              <a:rPr lang="en-US" altLang="ko-KR" dirty="0"/>
              <a:t>4</a:t>
            </a:r>
            <a:r>
              <a:rPr lang="ko-KR" altLang="en-US" dirty="0"/>
              <a:t>단계 파이프라인으로 구성됩니다</a:t>
            </a:r>
            <a:r>
              <a:rPr lang="en-US" altLang="ko-KR" dirty="0"/>
              <a:t>. </a:t>
            </a:r>
            <a:r>
              <a:rPr lang="ko-KR" altLang="en-US" dirty="0"/>
              <a:t>데이터 수집과 </a:t>
            </a:r>
            <a:r>
              <a:rPr lang="ko-KR" altLang="en-US" dirty="0" err="1"/>
              <a:t>임베딩</a:t>
            </a:r>
            <a:r>
              <a:rPr lang="en-US" altLang="ko-KR" dirty="0"/>
              <a:t>, </a:t>
            </a:r>
            <a:r>
              <a:rPr lang="ko-KR" altLang="en-US" dirty="0"/>
              <a:t>호환성 스코어링</a:t>
            </a:r>
            <a:r>
              <a:rPr lang="en-US" altLang="ko-KR" dirty="0"/>
              <a:t>, </a:t>
            </a:r>
            <a:r>
              <a:rPr lang="ko-KR" altLang="en-US" dirty="0"/>
              <a:t>랭킹과 추천</a:t>
            </a:r>
            <a:r>
              <a:rPr lang="en-US" altLang="ko-KR" dirty="0"/>
              <a:t>, </a:t>
            </a:r>
            <a:r>
              <a:rPr lang="ko-KR" altLang="en-US" dirty="0"/>
              <a:t>피드백 학습입니다</a:t>
            </a:r>
            <a:r>
              <a:rPr lang="en-US" altLang="ko-KR" dirty="0"/>
              <a:t>. LLM </a:t>
            </a:r>
            <a:r>
              <a:rPr lang="ko-KR" altLang="en-US" dirty="0"/>
              <a:t>기반 </a:t>
            </a:r>
            <a:r>
              <a:rPr lang="ko-KR" altLang="en-US" dirty="0" err="1"/>
              <a:t>임베딩과</a:t>
            </a:r>
            <a:r>
              <a:rPr lang="ko-KR" altLang="en-US" dirty="0"/>
              <a:t> 익명화 기반 개인정보 보호</a:t>
            </a:r>
            <a:r>
              <a:rPr lang="en-US" altLang="ko-KR" dirty="0"/>
              <a:t>, AI </a:t>
            </a:r>
            <a:r>
              <a:rPr lang="ko-KR" altLang="en-US" dirty="0"/>
              <a:t>편향성 상시 모니터링을 적용해 신뢰 가능한 알고리즘을 운영합니다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수익 구조는 네 축으로 이루어집니다</a:t>
            </a:r>
            <a:r>
              <a:rPr lang="en-US" altLang="ko-KR" dirty="0"/>
              <a:t>. </a:t>
            </a:r>
            <a:r>
              <a:rPr lang="ko-KR" altLang="en-US" dirty="0"/>
              <a:t>프리미엄 구독 서비스를 통해 더 많은 서비스 및 혜택을 제공합니다</a:t>
            </a:r>
            <a:r>
              <a:rPr lang="en-US" altLang="ko-KR" dirty="0"/>
              <a:t>. </a:t>
            </a:r>
            <a:r>
              <a:rPr lang="ko-KR" altLang="en-US" dirty="0"/>
              <a:t>그리고 다양한 검증된 제휴 공간에서 티켓 혹은 할인 쿠폰을 판매합니다</a:t>
            </a:r>
            <a:r>
              <a:rPr lang="en-US" altLang="ko-KR" dirty="0"/>
              <a:t>. </a:t>
            </a:r>
            <a:r>
              <a:rPr lang="ko-KR" altLang="en-US" dirty="0" err="1"/>
              <a:t>자자체</a:t>
            </a:r>
            <a:r>
              <a:rPr lang="ko-KR" altLang="en-US" dirty="0"/>
              <a:t> 청년 정책 프로젝트 및 기업 사내 복지는 초기 사용자 확보와 신뢰도 구축 모두에 유리한 채널입니다</a:t>
            </a:r>
            <a:r>
              <a:rPr lang="en-US" altLang="ko-KR" dirty="0"/>
              <a:t>. </a:t>
            </a:r>
            <a:r>
              <a:rPr lang="ko-KR" altLang="en-US" dirty="0"/>
              <a:t>데이트 코스</a:t>
            </a:r>
            <a:r>
              <a:rPr lang="en-US" altLang="ko-KR" dirty="0"/>
              <a:t>, </a:t>
            </a:r>
            <a:r>
              <a:rPr lang="ko-KR" altLang="en-US" dirty="0"/>
              <a:t>문화 전시 티켓 등 파트너 커머스 제휴 수수료까지 저희의 수익 모델입니다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사업 계획입니다</a:t>
            </a:r>
            <a:r>
              <a:rPr lang="en-US" altLang="ko-KR" dirty="0"/>
              <a:t>. </a:t>
            </a:r>
            <a:r>
              <a:rPr lang="ko-KR" altLang="en-US" dirty="0"/>
              <a:t>로드맵은 세 단계로 구성되어 있습니다</a:t>
            </a:r>
            <a:r>
              <a:rPr lang="en-US" altLang="ko-KR" dirty="0"/>
              <a:t>. </a:t>
            </a:r>
            <a:r>
              <a:rPr lang="ko-KR" altLang="en-US" dirty="0"/>
              <a:t>대학 및 청년 커뮤니티를 대상으로 파일럿 테스트를 진행하여 초기 피드백을 수집합니다</a:t>
            </a:r>
            <a:r>
              <a:rPr lang="en-US" altLang="ko-KR" dirty="0"/>
              <a:t>. </a:t>
            </a:r>
            <a:r>
              <a:rPr lang="ko-KR" altLang="en-US" dirty="0"/>
              <a:t>피드백이 수집되면 수도권 지역 집중 마케팅을 통해 알고리즘의 </a:t>
            </a:r>
            <a:r>
              <a:rPr lang="en-US" altLang="ko-KR" dirty="0"/>
              <a:t>1</a:t>
            </a:r>
            <a:r>
              <a:rPr lang="ko-KR" altLang="en-US" dirty="0"/>
              <a:t>차 고도화를 적용합니다</a:t>
            </a:r>
            <a:r>
              <a:rPr lang="en-US" altLang="ko-KR" dirty="0"/>
              <a:t>. </a:t>
            </a:r>
            <a:r>
              <a:rPr lang="ko-KR" altLang="en-US" dirty="0"/>
              <a:t>그 다음으로 전국으로 확대하여 지자체 및 기업 연계 파트너십 구축을 본격화합니다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월간 활성 사용자를 안정적으로 확보하고 매칭</a:t>
            </a:r>
            <a:r>
              <a:rPr lang="en-US" altLang="ko-KR" dirty="0"/>
              <a:t>, </a:t>
            </a:r>
            <a:r>
              <a:rPr lang="ko-KR" altLang="en-US" dirty="0"/>
              <a:t>만남 </a:t>
            </a:r>
            <a:r>
              <a:rPr lang="ko-KR" altLang="en-US" dirty="0" err="1"/>
              <a:t>전환율</a:t>
            </a:r>
            <a:r>
              <a:rPr lang="en-US" altLang="ko-KR" dirty="0"/>
              <a:t>, </a:t>
            </a:r>
            <a:r>
              <a:rPr lang="ko-KR" altLang="en-US" dirty="0"/>
              <a:t>재방문율을 높이고 안전사고 </a:t>
            </a:r>
            <a:r>
              <a:rPr lang="en-US" altLang="ko-KR" dirty="0"/>
              <a:t>0</a:t>
            </a:r>
            <a:r>
              <a:rPr lang="ko-KR" altLang="en-US" dirty="0"/>
              <a:t>건을 지속적으로 유지하는 것이 핵심 달성 지표입니다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D3FF-71D7-C22A-84F8-6543B9B1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BC31E-F699-A475-ABD9-0DDAE8307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F0530-CD13-7360-F333-FCA249CA1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여기서 발표 마치겠습니다</a:t>
            </a:r>
            <a:r>
              <a:rPr lang="en-US" altLang="ko-KR" dirty="0"/>
              <a:t>. </a:t>
            </a:r>
            <a:r>
              <a:rPr lang="ko-KR" altLang="en-US" dirty="0" err="1"/>
              <a:t>들어주셔서</a:t>
            </a:r>
            <a:r>
              <a:rPr lang="ko-KR" altLang="en-US" dirty="0"/>
              <a:t> 감사합니다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1A48D-FA26-7CF7-8300-CE4EC6631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84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hyperlink" Target="https://aieum.vercel.app/" TargetMode="External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476402" y="-476402"/>
            <a:ext cx="7619695" cy="7619695"/>
          </a:xfrm>
          <a:prstGeom prst="ellipse">
            <a:avLst/>
          </a:prstGeom>
          <a:solidFill>
            <a:srgbClr val="FFB6C1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0" y="2381098"/>
            <a:ext cx="8096098" cy="8096098"/>
          </a:xfrm>
          <a:prstGeom prst="ellipse">
            <a:avLst/>
          </a:prstGeom>
          <a:solidFill>
            <a:srgbClr val="FF69B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381305" y="2048256"/>
            <a:ext cx="11430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150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인연 매칭 서비스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3381451"/>
            <a:ext cx="114300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만남의 환경을 재설계하다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4143146"/>
            <a:ext cx="11430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 중심 매칭으로 ‘양적 만남’에서 ‘설계된 만남’으로 전환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81305" y="5524805"/>
            <a:ext cx="11430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이음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81305" y="5952744"/>
            <a:ext cx="11430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김태민 · 나익준 · 김태준 · 오현민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F81A8-1CC2-1599-AC98-38C8D9CC5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C863BA-0071-4288-36EE-21D4872DF24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387FA3-356E-C6B8-DD2E-E5BF080B036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E209CA-793C-2903-F189-DF4377DF68ED}"/>
              </a:ext>
            </a:extLst>
          </p:cNvPr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B6C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551FC2F-14BC-D5A5-57D9-54FA5E616E2A}"/>
              </a:ext>
            </a:extLst>
          </p:cNvPr>
          <p:cNvSpPr/>
          <p:nvPr/>
        </p:nvSpPr>
        <p:spPr>
          <a:xfrm>
            <a:off x="9525305" y="4762195"/>
            <a:ext cx="3333902" cy="3333902"/>
          </a:xfrm>
          <a:prstGeom prst="ellipse">
            <a:avLst/>
          </a:prstGeom>
          <a:solidFill>
            <a:srgbClr val="FF69B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DB400E3-F068-B15D-FBA9-4824181C4BA7}"/>
              </a:ext>
            </a:extLst>
          </p:cNvPr>
          <p:cNvSpPr txBox="1"/>
          <p:nvPr/>
        </p:nvSpPr>
        <p:spPr>
          <a:xfrm>
            <a:off x="571500" y="571500"/>
            <a:ext cx="11049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기획 배경</a:t>
            </a:r>
            <a:endParaRPr lang="en-US" sz="33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20FDF49-7969-50CB-BA3E-84A3D7836658}"/>
              </a:ext>
            </a:extLst>
          </p:cNvPr>
          <p:cNvSpPr/>
          <p:nvPr/>
        </p:nvSpPr>
        <p:spPr>
          <a:xfrm>
            <a:off x="2133475" y="1159044"/>
            <a:ext cx="7924743" cy="5302522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101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429207" y="-1429207"/>
            <a:ext cx="4762195" cy="4762195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01707" y="4286707"/>
            <a:ext cx="3810305" cy="3810305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e4a7161cd71589a6afa346c25cc0abb8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761695" y="1904695"/>
            <a:ext cx="3295498" cy="3146699"/>
          </a:xfrm>
          <a:prstGeom prst="rect">
            <a:avLst/>
          </a:prstGeom>
        </p:spPr>
      </p:pic>
      <p:pic>
        <p:nvPicPr>
          <p:cNvPr id="7" name="Image 1" descr="gen-dedup-e4a7161cd71589a6afa346c25cc0abb8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438498" y="1904695"/>
            <a:ext cx="3295498" cy="3146699"/>
          </a:xfrm>
          <a:prstGeom prst="rect">
            <a:avLst/>
          </a:prstGeom>
        </p:spPr>
      </p:pic>
      <p:pic>
        <p:nvPicPr>
          <p:cNvPr id="8" name="Image 2" descr="gen-dedup-e4a7161cd71589a6afa346c25cc0abb8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115300" y="1904695"/>
            <a:ext cx="3295498" cy="314669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1695" y="571500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기획 배경 요약</a:t>
            </a:r>
            <a:endParaRPr lang="en-US" sz="33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238098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만남 환경의 구조적 문제를 해결하기 위한 '이음'의 솔루션 도출 배경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2171700" y="2381098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gen-dedup-5aa74fa902a02dedef1e1130a94f2892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2266798" y="2505456"/>
            <a:ext cx="286207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47902" y="3143707"/>
            <a:ext cx="27249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만남 기회의 소멸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1047902" y="3715207"/>
            <a:ext cx="2724912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바쁜 일상과 축소된 오프라인 네트워킹으로 인해, 청년층 10명 중 6명 이상이 비연애 중일 정도로 심각한 만남 결핍이 구조화되었습니다.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848502" y="2381098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4" descr="gen-dedup-9dc362b2680815fc7ee8af85fce0343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71946" y="2505456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724705" y="3143707"/>
            <a:ext cx="27249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피상적 매칭의 한계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4724705" y="3715207"/>
            <a:ext cx="2724912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스펙과 외모 위주의 기존 서비스는 일회성 유희에 그치기 쉬우며, 신뢰와 정서적 교류를 기반으로 한 장기적 관계로 발전하기 어렵습니다.</a:t>
            </a:r>
            <a:endParaRPr lang="en-US" sz="1200" dirty="0"/>
          </a:p>
        </p:txBody>
      </p:sp>
      <p:pic>
        <p:nvPicPr>
          <p:cNvPr id="19" name="Image 5" descr="gen-dedup-7e9ab3bab91b0000223ebff81b5e511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25305" y="2381098"/>
            <a:ext cx="476402" cy="476402"/>
          </a:xfrm>
          <a:prstGeom prst="rect">
            <a:avLst/>
          </a:prstGeom>
        </p:spPr>
      </p:pic>
      <p:pic>
        <p:nvPicPr>
          <p:cNvPr id="20" name="Image 6" descr="gen-dedup-891d30cdd8495f8cbb8c44747c4d73f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48749" y="2505456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401507" y="3143707"/>
            <a:ext cx="27249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 중심의 대안</a:t>
            </a:r>
            <a:endParaRPr lang="en-US" sz="1800" dirty="0"/>
          </a:p>
        </p:txBody>
      </p:sp>
      <p:sp>
        <p:nvSpPr>
          <p:cNvPr id="22" name="Text 13"/>
          <p:cNvSpPr txBox="1"/>
          <p:nvPr/>
        </p:nvSpPr>
        <p:spPr>
          <a:xfrm>
            <a:off x="8401507" y="3715207"/>
            <a:ext cx="2724912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표면적 조건을 넘어 라이프스타일, 리스크 성향, 관계관 등 깊이 있는 내면적 가치관이 일치하는 파트너를 찾는 '질적 매칭'이 필요합니다.</a:t>
            </a:r>
            <a:endParaRPr lang="en-US" sz="12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203A0F75-A1AF-50E3-3776-70BCD8AF9F26}"/>
              </a:ext>
            </a:extLst>
          </p:cNvPr>
          <p:cNvSpPr txBox="1"/>
          <p:nvPr/>
        </p:nvSpPr>
        <p:spPr>
          <a:xfrm>
            <a:off x="1183466" y="5215736"/>
            <a:ext cx="10034160" cy="124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kern="0" spc="38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</a:t>
            </a:r>
            <a:r>
              <a:rPr lang="en-US" sz="3600" b="1" kern="0" spc="38" dirty="0" err="1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연애</a:t>
            </a:r>
            <a:r>
              <a:rPr lang="en-US" sz="3600" b="1" kern="0" spc="38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600" b="1" kern="0" spc="38" dirty="0" err="1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패러다임</a:t>
            </a:r>
            <a:endParaRPr lang="en-US" sz="3600" b="1" kern="0" spc="38" dirty="0">
              <a:solidFill>
                <a:srgbClr val="D81B6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800" b="1" kern="0" spc="38" dirty="0" err="1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양적</a:t>
            </a:r>
            <a:r>
              <a:rPr lang="en-US" sz="2800" b="1" kern="0" spc="38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만남에서 질적 만남으로의 전환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4762195"/>
            <a:ext cx="3810305" cy="3810305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305" y="-952805"/>
            <a:ext cx="3333902" cy="3333902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fc677ce6f4c009077fc13bc00b56a6a2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761695" y="1904695"/>
            <a:ext cx="5143500" cy="4381805"/>
          </a:xfrm>
          <a:prstGeom prst="rect">
            <a:avLst/>
          </a:prstGeom>
        </p:spPr>
      </p:pic>
      <p:pic>
        <p:nvPicPr>
          <p:cNvPr id="7" name="Image 1" descr="gen-dedup-fc677ce6f4c009077fc13bc00b56a6a2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286500" y="1904695"/>
            <a:ext cx="5143500" cy="43818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571500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실태 분석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238098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비연애 청년 실태 요약 및 인사이트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047902" y="2190902"/>
            <a:ext cx="4572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</a:t>
            </a: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</a:t>
            </a: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3명 중 2명 비연애 중</a:t>
            </a:r>
            <a:endParaRPr lang="en-US" sz="1600" dirty="0"/>
          </a:p>
        </p:txBody>
      </p:sp>
      <p:pic>
        <p:nvPicPr>
          <p:cNvPr id="11" name="Image 2" descr="gen-dedup-3da6b73076289a470812bb932cda1115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1429207" y="2762402"/>
            <a:ext cx="3810305" cy="314370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572707" y="2733142"/>
            <a:ext cx="4572000" cy="19202"/>
          </a:xfrm>
          <a:prstGeom prst="rect">
            <a:avLst/>
          </a:prstGeom>
          <a:solidFill>
            <a:srgbClr val="FFE6F0"/>
          </a:solidFill>
          <a:ln w="12700">
            <a:solidFill>
              <a:srgbClr val="FFE6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6572707" y="2286000"/>
            <a:ext cx="457200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인사이트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6572707" y="3095244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90996127c526b42e1f545494cd65cbf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44030" y="3191256"/>
            <a:ext cx="237744" cy="1901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144207" y="3000146"/>
            <a:ext cx="400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구조화된 만남 결핍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144207" y="3295498"/>
            <a:ext cx="4000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연애 이전 단계부터 기회 자체가 극도로 제한되어 있는 '만남 결핍'이 사회 구조적으로 고착화되고 있습니다.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572707" y="4286707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gen-dedup-e97fe514282098e8e044ceead975863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67805" y="4381805"/>
            <a:ext cx="190195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144207" y="4190695"/>
            <a:ext cx="400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재설계의 시급성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7144207" y="4486046"/>
            <a:ext cx="4000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기회 확장을 넘어, 만남의 질과 접근 방식 자체에 대한 근본적인 재설계와 솔루션이 시급한 시점입니다.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380390" y="5943600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인구보건복지협회 「2022년 제1차 저출산인식조사」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5305" y="-476402"/>
            <a:ext cx="3810305" cy="3810305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4762195"/>
            <a:ext cx="2857500" cy="2857500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4830a9e341c720c414f157cb7009b989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4448556" y="1714500"/>
            <a:ext cx="3295498" cy="304769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7707" y="5048402"/>
            <a:ext cx="10515600" cy="1371600"/>
          </a:xfrm>
          <a:prstGeom prst="roundRect">
            <a:avLst>
              <a:gd name="adj" fmla="val 18519"/>
            </a:avLst>
          </a:prstGeom>
          <a:solidFill>
            <a:srgbClr val="FFE6F0"/>
          </a:solidFill>
          <a:ln w="25400">
            <a:solidFill>
              <a:srgbClr val="FFB6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/>
          <p:cNvSpPr txBox="1"/>
          <p:nvPr/>
        </p:nvSpPr>
        <p:spPr>
          <a:xfrm>
            <a:off x="857707" y="476402"/>
            <a:ext cx="10478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분석</a:t>
            </a:r>
            <a:endParaRPr lang="en-US" sz="3300" dirty="0"/>
          </a:p>
        </p:txBody>
      </p:sp>
      <p:sp>
        <p:nvSpPr>
          <p:cNvPr id="11" name="Text 6"/>
          <p:cNvSpPr txBox="1"/>
          <p:nvPr/>
        </p:nvSpPr>
        <p:spPr>
          <a:xfrm>
            <a:off x="857707" y="1190549"/>
            <a:ext cx="10478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저출산·만남 위기 통합 현황</a:t>
            </a:r>
            <a:endParaRPr lang="en-US" sz="16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4BA28AA-68EE-362F-7496-7B9926EB240F}"/>
              </a:ext>
            </a:extLst>
          </p:cNvPr>
          <p:cNvGrpSpPr/>
          <p:nvPr/>
        </p:nvGrpSpPr>
        <p:grpSpPr>
          <a:xfrm>
            <a:off x="8039405" y="1714500"/>
            <a:ext cx="3295498" cy="3047695"/>
            <a:chOff x="724205" y="1581912"/>
            <a:chExt cx="3295498" cy="3047695"/>
          </a:xfrm>
        </p:grpSpPr>
        <p:pic>
          <p:nvPicPr>
            <p:cNvPr id="6" name="Image 0" descr="gen-dedup-4830a9e341c720c414f157cb7009b989.png"/>
            <p:cNvPicPr>
              <a:picLocks noChangeAspect="1"/>
            </p:cNvPicPr>
            <p:nvPr/>
          </p:nvPicPr>
          <p:blipFill>
            <a:blip r:embed="rId3"/>
            <a:srcRect l="-3" r="-3"/>
            <a:stretch/>
          </p:blipFill>
          <p:spPr>
            <a:xfrm>
              <a:off x="724205" y="1581912"/>
              <a:ext cx="3295498" cy="3047695"/>
            </a:xfrm>
            <a:prstGeom prst="rect">
              <a:avLst/>
            </a:prstGeom>
          </p:spPr>
        </p:pic>
        <p:sp>
          <p:nvSpPr>
            <p:cNvPr id="12" name="Text 7"/>
            <p:cNvSpPr txBox="1"/>
            <p:nvPr/>
          </p:nvSpPr>
          <p:spPr>
            <a:xfrm>
              <a:off x="914400" y="1963217"/>
              <a:ext cx="291510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합계출산율 (2025년)</a:t>
              </a:r>
              <a:endParaRPr lang="en-US" sz="1500" dirty="0"/>
            </a:p>
          </p:txBody>
        </p:sp>
        <p:sp>
          <p:nvSpPr>
            <p:cNvPr id="13" name="Text 8"/>
            <p:cNvSpPr txBox="1"/>
            <p:nvPr/>
          </p:nvSpPr>
          <p:spPr>
            <a:xfrm>
              <a:off x="914400" y="2429561"/>
              <a:ext cx="2915107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D81B6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0.72</a:t>
              </a:r>
              <a:r>
                <a:rPr lang="en-US" sz="1800" b="1" dirty="0">
                  <a:solidFill>
                    <a:srgbClr val="D81B6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명</a:t>
              </a:r>
              <a:endParaRPr lang="en-US" sz="3600" dirty="0"/>
            </a:p>
          </p:txBody>
        </p:sp>
        <p:sp>
          <p:nvSpPr>
            <p:cNvPr id="14" name="Text 9"/>
            <p:cNvSpPr txBox="1"/>
            <p:nvPr/>
          </p:nvSpPr>
          <p:spPr>
            <a:xfrm>
              <a:off x="914400" y="3334817"/>
              <a:ext cx="291510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218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2000년 대비 -68% 하락</a:t>
              </a:r>
              <a:endParaRPr lang="en-US" sz="1100" dirty="0"/>
            </a:p>
          </p:txBody>
        </p:sp>
        <p:sp>
          <p:nvSpPr>
            <p:cNvPr id="15" name="Text 10"/>
            <p:cNvSpPr txBox="1"/>
            <p:nvPr/>
          </p:nvSpPr>
          <p:spPr>
            <a:xfrm>
              <a:off x="914400" y="3610966"/>
              <a:ext cx="291510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인구유지선(2.1명) 크게 하회</a:t>
              </a:r>
              <a:endParaRPr lang="en-US" sz="1100" dirty="0"/>
            </a:p>
          </p:txBody>
        </p:sp>
      </p:grpSp>
      <p:sp>
        <p:nvSpPr>
          <p:cNvPr id="16" name="Text 11"/>
          <p:cNvSpPr txBox="1"/>
          <p:nvPr/>
        </p:nvSpPr>
        <p:spPr>
          <a:xfrm>
            <a:off x="4638751" y="2095805"/>
            <a:ext cx="2915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미혼율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38751" y="2562149"/>
            <a:ext cx="29151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92.8</a:t>
            </a:r>
            <a:r>
              <a:rPr lang="en-US" sz="18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4638751" y="3467405"/>
            <a:ext cx="2915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2010년 대비 +21.7%p 증가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638751" y="3743554"/>
            <a:ext cx="2915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만남 기회 자체의 극심한 소멸</a:t>
            </a:r>
            <a:endParaRPr lang="en-US" sz="1100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3D29A0D-1560-7B95-E86C-08F65597F6CD}"/>
              </a:ext>
            </a:extLst>
          </p:cNvPr>
          <p:cNvGrpSpPr/>
          <p:nvPr/>
        </p:nvGrpSpPr>
        <p:grpSpPr>
          <a:xfrm>
            <a:off x="857707" y="1719529"/>
            <a:ext cx="3295498" cy="3047695"/>
            <a:chOff x="8039405" y="1714500"/>
            <a:chExt cx="3295498" cy="3047695"/>
          </a:xfrm>
        </p:grpSpPr>
        <p:pic>
          <p:nvPicPr>
            <p:cNvPr id="8" name="Image 2" descr="gen-dedup-4830a9e341c720c414f157cb7009b989.png"/>
            <p:cNvPicPr>
              <a:picLocks noChangeAspect="1"/>
            </p:cNvPicPr>
            <p:nvPr/>
          </p:nvPicPr>
          <p:blipFill>
            <a:blip r:embed="rId3"/>
            <a:srcRect l="-3" r="-3"/>
            <a:stretch/>
          </p:blipFill>
          <p:spPr>
            <a:xfrm>
              <a:off x="8039405" y="1714500"/>
              <a:ext cx="3295498" cy="3047695"/>
            </a:xfrm>
            <a:prstGeom prst="rect">
              <a:avLst/>
            </a:prstGeom>
          </p:spPr>
        </p:pic>
        <p:sp>
          <p:nvSpPr>
            <p:cNvPr id="20" name="Text 15"/>
            <p:cNvSpPr txBox="1"/>
            <p:nvPr/>
          </p:nvSpPr>
          <p:spPr>
            <a:xfrm>
              <a:off x="8229600" y="2095805"/>
              <a:ext cx="291510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초혼 연령</a:t>
              </a:r>
              <a:endParaRPr lang="en-US" sz="1500" dirty="0"/>
            </a:p>
          </p:txBody>
        </p:sp>
        <p:sp>
          <p:nvSpPr>
            <p:cNvPr id="21" name="Text 16"/>
            <p:cNvSpPr txBox="1"/>
            <p:nvPr/>
          </p:nvSpPr>
          <p:spPr>
            <a:xfrm>
              <a:off x="8075066" y="2562149"/>
              <a:ext cx="322326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D81B6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남 33.9 </a:t>
              </a:r>
              <a:r>
                <a:rPr lang="en-US" sz="1500" b="1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</a:t>
              </a:r>
              <a:r>
                <a:rPr lang="en-US" sz="2100" b="1" dirty="0">
                  <a:solidFill>
                    <a:srgbClr val="D81B6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여 31.6</a:t>
              </a:r>
              <a:r>
                <a:rPr lang="en-US" sz="1500" b="1" dirty="0">
                  <a:solidFill>
                    <a:srgbClr val="D81B6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세</a:t>
              </a:r>
              <a:endParaRPr lang="en-US" sz="2100" dirty="0"/>
            </a:p>
          </p:txBody>
        </p:sp>
        <p:sp>
          <p:nvSpPr>
            <p:cNvPr id="22" name="Text 17"/>
            <p:cNvSpPr txBox="1"/>
            <p:nvPr/>
          </p:nvSpPr>
          <p:spPr>
            <a:xfrm>
              <a:off x="8229600" y="3276295"/>
              <a:ext cx="291510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2185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결혼과 출산의 지속적 후행화</a:t>
              </a:r>
              <a:endParaRPr lang="en-US" sz="1100" dirty="0"/>
            </a:p>
          </p:txBody>
        </p:sp>
        <p:sp>
          <p:nvSpPr>
            <p:cNvPr id="23" name="Text 18"/>
            <p:cNvSpPr txBox="1"/>
            <p:nvPr/>
          </p:nvSpPr>
          <p:spPr>
            <a:xfrm>
              <a:off x="8229600" y="3552444"/>
              <a:ext cx="2915107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66666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가치관에 맞는 적합한 짝 탐색 지연</a:t>
              </a:r>
              <a:endParaRPr lang="en-US" sz="1100" dirty="0"/>
            </a:p>
          </p:txBody>
        </p:sp>
      </p:grpSp>
      <p:sp>
        <p:nvSpPr>
          <p:cNvPr id="24" name="Shape 19"/>
          <p:cNvSpPr/>
          <p:nvPr/>
        </p:nvSpPr>
        <p:spPr>
          <a:xfrm>
            <a:off x="1238098" y="5429707"/>
            <a:ext cx="571500" cy="571500"/>
          </a:xfrm>
          <a:prstGeom prst="ellipse">
            <a:avLst/>
          </a:prstGeom>
          <a:solidFill>
            <a:srgbClr val="D81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gen-dedup-0d880cdb808a13d0df4664563e8601b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3721" y="5581498"/>
            <a:ext cx="200254" cy="2670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095805" y="5286146"/>
            <a:ext cx="88587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극복을 위한 이음의 솔루션 제안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2095805" y="5639105"/>
            <a:ext cx="8858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'만남 기회의 부족'과 '질 낮은 매칭'이 인구 구조 변화와 연쇄적 지연을 초래하고 있습니다.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이제는 표면적 조건이 아닌 </a:t>
            </a:r>
            <a:r>
              <a:rPr lang="en-US" sz="1200" b="1" dirty="0" err="1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</a:t>
            </a: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</a:t>
            </a:r>
            <a:r>
              <a:rPr lang="en-US" sz="1200" b="1" dirty="0" err="1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</a:t>
            </a: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기반의 고품질 매칭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구조적 문제를 해결할 핵심 열쇠입니다.</a:t>
            </a:r>
            <a:endParaRPr lang="en-US" sz="12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80DCC56A-F8F8-8EDB-3535-BF1ABD2C307B}"/>
              </a:ext>
            </a:extLst>
          </p:cNvPr>
          <p:cNvSpPr txBox="1"/>
          <p:nvPr/>
        </p:nvSpPr>
        <p:spPr>
          <a:xfrm>
            <a:off x="857706" y="4305300"/>
            <a:ext cx="3295497" cy="31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</a:t>
            </a: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</a:t>
            </a:r>
            <a:r>
              <a:rPr 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</a:t>
            </a: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인구동향</a:t>
            </a:r>
            <a:r>
              <a:rPr lang="en-US" sz="1000" dirty="0" err="1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</a:t>
            </a:r>
            <a:r>
              <a:rPr 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」(2024</a:t>
            </a: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 기준</a:t>
            </a:r>
            <a:r>
              <a:rPr lang="en-US" altLang="ko-KR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0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40966FAD-E9CA-0065-107D-0F5F2995E8B5}"/>
              </a:ext>
            </a:extLst>
          </p:cNvPr>
          <p:cNvSpPr txBox="1"/>
          <p:nvPr/>
        </p:nvSpPr>
        <p:spPr>
          <a:xfrm>
            <a:off x="4467758" y="4307637"/>
            <a:ext cx="3295497" cy="31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</a:t>
            </a: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 </a:t>
            </a:r>
            <a:r>
              <a:rPr lang="ko-KR" altLang="en-US" sz="1000" dirty="0" err="1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인구총조사</a:t>
            </a:r>
            <a:r>
              <a:rPr 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(2020~2024</a:t>
            </a: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 기준</a:t>
            </a:r>
            <a:r>
              <a:rPr lang="en-US" altLang="ko-KR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0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13427550-FBEB-A7BC-849C-967A92F98D8C}"/>
              </a:ext>
            </a:extLst>
          </p:cNvPr>
          <p:cNvSpPr txBox="1"/>
          <p:nvPr/>
        </p:nvSpPr>
        <p:spPr>
          <a:xfrm>
            <a:off x="8038796" y="4404031"/>
            <a:ext cx="3295497" cy="31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</a:t>
            </a: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국가데이터처</a:t>
            </a:r>
            <a:r>
              <a:rPr 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</a:t>
            </a:r>
            <a:r>
              <a:rPr lang="en-US" altLang="ko-KR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 출생</a:t>
            </a:r>
            <a:r>
              <a:rPr lang="en-US" altLang="ko-KR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사망 통계</a:t>
            </a:r>
            <a:r>
              <a:rPr lang="en-US" altLang="ko-KR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잠정</a:t>
            </a:r>
            <a:r>
              <a:rPr lang="en-US" altLang="ko-KR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),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 인구동향조사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287000" y="4953305"/>
            <a:ext cx="2857500" cy="2857500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76021e2cc83b92a8ec84b0d835324a0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714500"/>
            <a:ext cx="5143500" cy="4572000"/>
          </a:xfrm>
          <a:prstGeom prst="rect">
            <a:avLst/>
          </a:prstGeom>
        </p:spPr>
      </p:pic>
      <p:pic>
        <p:nvPicPr>
          <p:cNvPr id="7" name="Image 1" descr="gen-dedup-df8796a5def2634128ac5dd6a70d9c3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1714500"/>
            <a:ext cx="5181905" cy="46104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476402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분석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190549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정의와 시장 기회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047902" y="2429561"/>
            <a:ext cx="4572000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1371600" y="2000707"/>
            <a:ext cx="424830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</a:t>
            </a:r>
            <a:r>
              <a:rPr lang="en-US" sz="1300" b="1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1800" dirty="0"/>
          </a:p>
        </p:txBody>
      </p:sp>
      <p:pic>
        <p:nvPicPr>
          <p:cNvPr id="12" name="Image 2" descr="gen-dedup-fb853a03da5bd49f3912278aa7bea87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902" y="2066544"/>
            <a:ext cx="228600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47902" y="2714854"/>
            <a:ext cx="428854" cy="428854"/>
          </a:xfrm>
          <a:prstGeom prst="roundRect">
            <a:avLst>
              <a:gd name="adj" fmla="val 113717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gen-dedup-df79f6f8cfccdf02397833f311b253e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3000" y="2833726"/>
            <a:ext cx="237744" cy="1901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66951" y="2667305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만남 접근성 저하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666951" y="2971800"/>
            <a:ext cx="39529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자연스러운 만남을 추구하지만, 실질적인 기회와 접점이 극도로 제한되어 있는 환경적 한계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1047902" y="3666744"/>
            <a:ext cx="428854" cy="428854"/>
          </a:xfrm>
          <a:prstGeom prst="roundRect">
            <a:avLst>
              <a:gd name="adj" fmla="val 113717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gen-dedup-1937310d7c40a5d87a580d9e3134999c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43000" y="3786530"/>
            <a:ext cx="237744" cy="1901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66951" y="3619195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피상적 매칭의 한계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666951" y="3924605"/>
            <a:ext cx="39529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외모·스펙 위주의 기존 서비스들이 단기적 유희에 그치며, 신뢰 기반의 장기적 관계로 발전하기 어려움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1047902" y="4619549"/>
            <a:ext cx="428854" cy="428854"/>
          </a:xfrm>
          <a:prstGeom prst="roundRect">
            <a:avLst>
              <a:gd name="adj" fmla="val 113717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5" descr="gen-dedup-2dd57821187c0f0d3f5b30b789f10d16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66774" y="4738421"/>
            <a:ext cx="190195" cy="19019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666951" y="457200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 탐색의 리스크 및 비용 증가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1666951" y="4876495"/>
            <a:ext cx="39529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불확실한 상대와의 만남으로 인한 감정적, 경제적 비용 소모와 안전에 대한 우려 증가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6572707" y="2429561"/>
            <a:ext cx="4572000" cy="19202"/>
          </a:xfrm>
          <a:prstGeom prst="rect">
            <a:avLst/>
          </a:prstGeom>
          <a:solidFill>
            <a:srgbClr val="FFE6F0"/>
          </a:solidFill>
          <a:ln w="12700">
            <a:solidFill>
              <a:srgbClr val="FFE6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6839712" y="2000707"/>
            <a:ext cx="4304995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기회 </a:t>
            </a:r>
            <a:r>
              <a:rPr lang="en-US" sz="1300" b="1" dirty="0">
                <a:solidFill>
                  <a:srgbClr val="FFB6C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</a:t>
            </a:r>
            <a:endParaRPr lang="en-US" sz="1800" dirty="0"/>
          </a:p>
        </p:txBody>
      </p:sp>
      <p:pic>
        <p:nvPicPr>
          <p:cNvPr id="27" name="Image 6" descr="gen-dedup-9e9b5bcdaea09f914a4a0411b8b8ce9a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6572707" y="2066544"/>
            <a:ext cx="171907" cy="2286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572707" y="2714854"/>
            <a:ext cx="428854" cy="428854"/>
          </a:xfrm>
          <a:prstGeom prst="roundRect">
            <a:avLst>
              <a:gd name="adj" fmla="val 113717"/>
            </a:avLst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7" descr="gen-dedup-e6a1de1d3262062bdff40edbde867da7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91579" y="2833726"/>
            <a:ext cx="190195" cy="19019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191756" y="2667305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Z·M세대의 '가치관 중심' 니즈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7191756" y="2971800"/>
            <a:ext cx="39529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개인의 라이프스타일과 성향적 정합성을 가장 중시하는 새로운 연애·결혼관 확산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6572707" y="3666744"/>
            <a:ext cx="428854" cy="428854"/>
          </a:xfrm>
          <a:prstGeom prst="roundRect">
            <a:avLst>
              <a:gd name="adj" fmla="val 113717"/>
            </a:avLst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8" descr="gen-dedup-59e555725a0c3f901f81f187f1f821f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67805" y="3786530"/>
            <a:ext cx="237744" cy="19019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191756" y="3619195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정책·사회적 공감대 형성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7191756" y="3924605"/>
            <a:ext cx="39529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저출산 위기 극복을 위한 공공 부문 및 지자체의 협업 수요 존재 (안전망 기반 매칭 지원)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6572707" y="4619549"/>
            <a:ext cx="428854" cy="428854"/>
          </a:xfrm>
          <a:prstGeom prst="roundRect">
            <a:avLst>
              <a:gd name="adj" fmla="val 113717"/>
            </a:avLst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9" descr="gen-dedup-b13d4d1f6d3174dac125c33f24caa99f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67805" y="4738421"/>
            <a:ext cx="237744" cy="19019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7191756" y="457200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프라이버시 친화적 AI의 보편화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7191756" y="4876495"/>
            <a:ext cx="39529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소셜 디스커버리 시장의 지속적 성장 속에서 고도화된 AI 매칭과 개인정보 보호 기술 성숙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5305" y="-476402"/>
            <a:ext cx="3810305" cy="3810305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4762195"/>
            <a:ext cx="2857500" cy="2857500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57707" y="1714500"/>
            <a:ext cx="10477195" cy="761695"/>
          </a:xfrm>
          <a:prstGeom prst="roundRect">
            <a:avLst>
              <a:gd name="adj" fmla="val 480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50800" dir="16200000" algn="bl" rotWithShape="0">
              <a:srgbClr val="D81B6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25011f96f0942b4d1ffb82f58222d7f5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57707" y="2667305"/>
            <a:ext cx="3295498" cy="3619195"/>
          </a:xfrm>
          <a:prstGeom prst="rect">
            <a:avLst/>
          </a:prstGeom>
        </p:spPr>
      </p:pic>
      <p:pic>
        <p:nvPicPr>
          <p:cNvPr id="8" name="Image 1" descr="gen-dedup-25011f96f0942b4d1ffb82f58222d7f5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4448556" y="2667305"/>
            <a:ext cx="3295498" cy="3619195"/>
          </a:xfrm>
          <a:prstGeom prst="rect">
            <a:avLst/>
          </a:prstGeom>
        </p:spPr>
      </p:pic>
      <p:pic>
        <p:nvPicPr>
          <p:cNvPr id="9" name="Image 2" descr="gen-dedup-17c8c8423b99020bdfea60631f8bb9c1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8039405" y="2667305"/>
            <a:ext cx="3295498" cy="3619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57707" y="476402"/>
            <a:ext cx="10478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분석</a:t>
            </a:r>
            <a:endParaRPr lang="en-US" sz="3300" dirty="0"/>
          </a:p>
        </p:txBody>
      </p:sp>
      <p:sp>
        <p:nvSpPr>
          <p:cNvPr id="11" name="Text 6"/>
          <p:cNvSpPr txBox="1"/>
          <p:nvPr/>
        </p:nvSpPr>
        <p:spPr>
          <a:xfrm>
            <a:off x="857707" y="1143000"/>
            <a:ext cx="10478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 ANALYSIS (TAM/SAM/SOM)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3000" y="19046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bb6adc7290055102826f3f49e9bb9966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1224382" y="2000707"/>
            <a:ext cx="219456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96211" y="1837030"/>
            <a:ext cx="366590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</a:t>
            </a:r>
            <a:r>
              <a:rPr lang="en-US" sz="1600" b="1" dirty="0" err="1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</a:t>
            </a:r>
            <a:r>
              <a:rPr lang="en-US" sz="16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r>
              <a:rPr lang="ko-KR" altLang="en-US" sz="16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률 약</a:t>
            </a:r>
            <a:r>
              <a:rPr lang="en-US" sz="16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28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10.5~12%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5275458" y="2023713"/>
            <a:ext cx="4937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데이팅 인앱 결제 지속적인 성장세 및 90년대생 핵심 소비층 유입 가속화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2171700" y="3000146"/>
            <a:ext cx="666598" cy="666598"/>
          </a:xfrm>
          <a:prstGeom prst="ellipse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f9d5f0fe66d6be3aacf8079d77b9c6d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61895" y="3191256"/>
            <a:ext cx="286207" cy="28620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47902" y="3810305"/>
            <a:ext cx="2915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시장 </a:t>
            </a:r>
            <a:r>
              <a:rPr lang="en-US" sz="18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TAM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047902" y="4190695"/>
            <a:ext cx="29151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kern="0" spc="-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9,936</a:t>
            </a:r>
            <a:r>
              <a:rPr lang="en-US" sz="1500" b="1" kern="0" spc="-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2700" dirty="0"/>
          </a:p>
        </p:txBody>
      </p:sp>
      <p:sp>
        <p:nvSpPr>
          <p:cNvPr id="20" name="Text 13"/>
          <p:cNvSpPr txBox="1"/>
          <p:nvPr/>
        </p:nvSpPr>
        <p:spPr>
          <a:xfrm>
            <a:off x="1047902" y="4858207"/>
            <a:ext cx="29151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혼인 24만 건 및 2030 고미혼율 기준 전체 미혼 인구 잠재 시장. 연애 및 관계 탐색 관련 지출 총합.</a:t>
            </a:r>
            <a:endParaRPr lang="en-US" sz="1000" dirty="0"/>
          </a:p>
        </p:txBody>
      </p:sp>
      <p:pic>
        <p:nvPicPr>
          <p:cNvPr id="21" name="Image 5" descr="gen-dedup-43661d2539c2b061fde672034bc99ea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4233672" y="4172407"/>
            <a:ext cx="142646" cy="2286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762549" y="3000146"/>
            <a:ext cx="666598" cy="666598"/>
          </a:xfrm>
          <a:prstGeom prst="ellipse">
            <a:avLst/>
          </a:prstGeom>
          <a:solidFill>
            <a:srgbClr val="FFE6F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6" descr="gen-dedup-9229c709a45d54d53ecac40da2980879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607" r="-607"/>
          <a:stretch/>
        </p:blipFill>
        <p:spPr>
          <a:xfrm>
            <a:off x="5915254" y="3191256"/>
            <a:ext cx="362102" cy="28620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638751" y="3810305"/>
            <a:ext cx="2915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시장 </a:t>
            </a:r>
            <a:r>
              <a:rPr lang="en-US" sz="18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4638751" y="4190695"/>
            <a:ext cx="29151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kern="0" spc="-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2,980</a:t>
            </a:r>
            <a:r>
              <a:rPr lang="en-US" sz="1500" b="1" kern="0" spc="-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2700" dirty="0"/>
          </a:p>
        </p:txBody>
      </p:sp>
      <p:sp>
        <p:nvSpPr>
          <p:cNvPr id="26" name="Text 17"/>
          <p:cNvSpPr txBox="1"/>
          <p:nvPr/>
        </p:nvSpPr>
        <p:spPr>
          <a:xfrm>
            <a:off x="4638751" y="4858207"/>
            <a:ext cx="29151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인앱 결제 및 데이트 실행 의향이 있는 핵심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수요층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관계와 시간 효율을 극도로 중시하는 유효 시장.</a:t>
            </a:r>
            <a:endParaRPr lang="en-US" sz="1000" dirty="0"/>
          </a:p>
        </p:txBody>
      </p:sp>
      <p:pic>
        <p:nvPicPr>
          <p:cNvPr id="27" name="Image 7" descr="gen-dedup-43661d2539c2b061fde672034bc99ea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7815377" y="4172407"/>
            <a:ext cx="142646" cy="228600"/>
          </a:xfrm>
          <a:prstGeom prst="rect">
            <a:avLst/>
          </a:prstGeom>
        </p:spPr>
      </p:pic>
      <p:pic>
        <p:nvPicPr>
          <p:cNvPr id="28" name="Image 8" descr="gen-dedup-9fc5295faa0014e26b610fa16fe1d502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53398" y="3000146"/>
            <a:ext cx="666598" cy="666598"/>
          </a:xfrm>
          <a:prstGeom prst="rect">
            <a:avLst/>
          </a:prstGeom>
        </p:spPr>
      </p:pic>
      <p:pic>
        <p:nvPicPr>
          <p:cNvPr id="29" name="Image 9" descr="gen-dedup-42fa4d8eaf800f678b01750f16d62fdb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544507" y="3191256"/>
            <a:ext cx="286207" cy="286207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8229600" y="3810305"/>
            <a:ext cx="2915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시장 </a:t>
            </a:r>
            <a:r>
              <a:rPr lang="en-US" sz="18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SOM</a:t>
            </a:r>
            <a:endParaRPr lang="en-US" sz="1500" dirty="0"/>
          </a:p>
        </p:txBody>
      </p:sp>
      <p:sp>
        <p:nvSpPr>
          <p:cNvPr id="31" name="Text 19"/>
          <p:cNvSpPr txBox="1"/>
          <p:nvPr/>
        </p:nvSpPr>
        <p:spPr>
          <a:xfrm>
            <a:off x="8229600" y="4190695"/>
            <a:ext cx="29151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</a:t>
            </a:r>
            <a:r>
              <a:rPr lang="en-US" sz="18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3100" dirty="0"/>
          </a:p>
        </p:txBody>
      </p:sp>
      <p:sp>
        <p:nvSpPr>
          <p:cNvPr id="32" name="Text 20"/>
          <p:cNvSpPr txBox="1"/>
          <p:nvPr/>
        </p:nvSpPr>
        <p:spPr>
          <a:xfrm>
            <a:off x="8229600" y="4858207"/>
            <a:ext cx="29151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 내 확보 가능한 AI '</a:t>
            </a:r>
            <a:r>
              <a:rPr lang="en-US" sz="10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완주형＇플랫</a:t>
            </a:r>
            <a:r>
              <a:rPr lang="ko-KR" alt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폼</a:t>
            </a:r>
            <a:r>
              <a:rPr lang="en-US" altLang="ko-KR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</a:t>
            </a: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유저(SAM의 ~2%). 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데이트 </a:t>
            </a:r>
            <a:r>
              <a:rPr lang="en-US" sz="10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코스</a:t>
            </a: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결제 및 재매칭 중심의 1차 목표 시장.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001707" y="-476402"/>
            <a:ext cx="2857500" cy="2857500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4286707"/>
            <a:ext cx="3810305" cy="3810305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57707" y="1476756"/>
            <a:ext cx="3314700" cy="1352398"/>
          </a:xfrm>
          <a:prstGeom prst="roundRect">
            <a:avLst>
              <a:gd name="adj" fmla="val 1523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448556" y="1476756"/>
            <a:ext cx="3314700" cy="1352398"/>
          </a:xfrm>
          <a:prstGeom prst="roundRect">
            <a:avLst>
              <a:gd name="adj" fmla="val 1523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39405" y="1476756"/>
            <a:ext cx="3314700" cy="1352398"/>
          </a:xfrm>
          <a:prstGeom prst="roundRect">
            <a:avLst>
              <a:gd name="adj" fmla="val 1523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6bd77512376a763a20aa4a628f28acff.png"/>
          <p:cNvPicPr>
            <a:picLocks noChangeAspect="1"/>
          </p:cNvPicPr>
          <p:nvPr/>
        </p:nvPicPr>
        <p:blipFill>
          <a:blip r:embed="rId3"/>
          <a:srcRect t="-26" b="-26"/>
          <a:stretch/>
        </p:blipFill>
        <p:spPr>
          <a:xfrm>
            <a:off x="857707" y="3095244"/>
            <a:ext cx="10477195" cy="609905"/>
          </a:xfrm>
          <a:prstGeom prst="rect">
            <a:avLst/>
          </a:prstGeom>
        </p:spPr>
      </p:pic>
      <p:pic>
        <p:nvPicPr>
          <p:cNvPr id="10" name="Image 1" descr="gen-dedup-d0de25a15eb2c21bae5c55ac7310fea3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857707" y="3952951"/>
            <a:ext cx="2476195" cy="2572207"/>
          </a:xfrm>
          <a:prstGeom prst="rect">
            <a:avLst/>
          </a:prstGeom>
        </p:spPr>
      </p:pic>
      <p:pic>
        <p:nvPicPr>
          <p:cNvPr id="11" name="Image 2" descr="gen-dedup-d0de25a15eb2c21bae5c55ac7310fea3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3524098" y="3952951"/>
            <a:ext cx="2476195" cy="2572207"/>
          </a:xfrm>
          <a:prstGeom prst="rect">
            <a:avLst/>
          </a:prstGeom>
        </p:spPr>
      </p:pic>
      <p:pic>
        <p:nvPicPr>
          <p:cNvPr id="12" name="Image 3" descr="gen-dedup-d0de25a15eb2c21bae5c55ac7310fea3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6191402" y="3952951"/>
            <a:ext cx="2476195" cy="2572207"/>
          </a:xfrm>
          <a:prstGeom prst="rect">
            <a:avLst/>
          </a:prstGeom>
        </p:spPr>
      </p:pic>
      <p:pic>
        <p:nvPicPr>
          <p:cNvPr id="13" name="Image 4" descr="gen-dedup-d0de25a15eb2c21bae5c55ac7310fea3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8858707" y="3952951"/>
            <a:ext cx="2476195" cy="25722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57707" y="428854"/>
            <a:ext cx="10478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서비스 분석 및 이음의 차별점</a:t>
            </a:r>
            <a:endParaRPr lang="en-US" sz="3000" dirty="0"/>
          </a:p>
        </p:txBody>
      </p:sp>
      <p:sp>
        <p:nvSpPr>
          <p:cNvPr id="15" name="Text 8"/>
          <p:cNvSpPr txBox="1"/>
          <p:nvPr/>
        </p:nvSpPr>
        <p:spPr>
          <a:xfrm>
            <a:off x="857707" y="1047902"/>
            <a:ext cx="10478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COMPETITIVE ANALYSIS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1047902" y="1666951"/>
            <a:ext cx="342900" cy="342900"/>
          </a:xfrm>
          <a:prstGeom prst="roundRect">
            <a:avLst>
              <a:gd name="adj" fmla="val 148148"/>
            </a:avLst>
          </a:prstGeom>
          <a:solidFill>
            <a:srgbClr val="F1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5" descr="gen-dedup-b311c6e5cef32a17f63102c7ce36ea49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1143000" y="1752905"/>
            <a:ext cx="152705" cy="171907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485900" y="171450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위피 (WIPPY)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1047902" y="2095805"/>
            <a:ext cx="2915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사용자 밀도가 압도적으로 높아 '만남 직전' 단계까지의 전환 속도가 매우 빠릅니다.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638751" y="1666951"/>
            <a:ext cx="342900" cy="342900"/>
          </a:xfrm>
          <a:prstGeom prst="roundRect">
            <a:avLst>
              <a:gd name="adj" fmla="val 148148"/>
            </a:avLst>
          </a:prstGeom>
          <a:solidFill>
            <a:srgbClr val="F1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6" descr="gen-dedup-f58716b50382b69b4994d52bddc66335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4714646" y="1752905"/>
            <a:ext cx="190195" cy="171907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076749" y="171450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데이트팝 (Datepop)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4638751" y="2095805"/>
            <a:ext cx="2915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코스 고민과 예약 편의성을 완벽히 해결하며 '데이트 실행' 단계에 강력한 유저층을 확보했습니다.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8229600" y="1666951"/>
            <a:ext cx="342900" cy="342900"/>
          </a:xfrm>
          <a:prstGeom prst="roundRect">
            <a:avLst>
              <a:gd name="adj" fmla="val 148148"/>
            </a:avLst>
          </a:prstGeom>
          <a:solidFill>
            <a:srgbClr val="F1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7" descr="gen-dedup-7dccbd24765d0c18334e9ac9e40a3991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8324698" y="1752905"/>
            <a:ext cx="152705" cy="171907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8667598" y="171450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힌지 (Hinge)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8229600" y="2095805"/>
            <a:ext cx="2915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이 사람과 내가 맞는지" 매칭 근거를 데이터로 설득력 있게 제시하여 매칭 품질이 높습니다.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1143000" y="3258007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24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r>
              <a:rPr lang="ko-KR" altLang="en-US" sz="24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이음</a:t>
            </a:r>
            <a:r>
              <a:rPr lang="en-US" altLang="ko-KR" sz="24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”</a:t>
            </a:r>
            <a:r>
              <a:rPr lang="en-US" sz="24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차별점 : 만남의 전 과정을 케어하는 </a:t>
            </a:r>
            <a:r>
              <a:rPr lang="en-US" sz="20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'실행형 플랫폼'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1857146" y="4238244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8" descr="gen-dedup-79de9ad31bac20e09d1b1e65f305b89d.png"/>
          <p:cNvPicPr>
            <a:picLocks noChangeAspect="1"/>
          </p:cNvPicPr>
          <p:nvPr/>
        </p:nvPicPr>
        <p:blipFill>
          <a:blip r:embed="rId8"/>
          <a:srcRect l="-1004" r="-1004"/>
          <a:stretch/>
        </p:blipFill>
        <p:spPr>
          <a:xfrm>
            <a:off x="1962302" y="4371746"/>
            <a:ext cx="267005" cy="20939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000354" y="4905756"/>
            <a:ext cx="2190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딥 매칭</a:t>
            </a:r>
            <a:endParaRPr lang="en-US" sz="1300" dirty="0"/>
          </a:p>
        </p:txBody>
      </p:sp>
      <p:sp>
        <p:nvSpPr>
          <p:cNvPr id="32" name="Text 21"/>
          <p:cNvSpPr txBox="1"/>
          <p:nvPr/>
        </p:nvSpPr>
        <p:spPr>
          <a:xfrm>
            <a:off x="1047902" y="5286146"/>
            <a:ext cx="20958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정형 스펙을 넘어 가치관·대화 패턴을 분석하여 '왜 이 사람과 맞는지'를 데이터로 설득력 있게 제시합니다.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4524451" y="4238244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9" descr="gen-dedup-8ec5bd99bb875ceb0cae928884b66dbc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57954" y="4371746"/>
            <a:ext cx="209398" cy="20939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3666744" y="4905756"/>
            <a:ext cx="2190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 지속률 (KPI)</a:t>
            </a:r>
            <a:endParaRPr lang="en-US" sz="1300" dirty="0"/>
          </a:p>
        </p:txBody>
      </p:sp>
      <p:sp>
        <p:nvSpPr>
          <p:cNvPr id="36" name="Text 24"/>
          <p:cNvSpPr txBox="1"/>
          <p:nvPr/>
        </p:nvSpPr>
        <p:spPr>
          <a:xfrm>
            <a:off x="3715207" y="5286146"/>
            <a:ext cx="20958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단발성 연결이나 스와이프 매칭이 아닌, 실제 데이트 후 '이어지는 만남'을 증명하는 관계 지속률에 집중합니다.</a:t>
            </a:r>
            <a:endParaRPr lang="en-US" sz="1000" dirty="0"/>
          </a:p>
        </p:txBody>
      </p:sp>
      <p:sp>
        <p:nvSpPr>
          <p:cNvPr id="37" name="Shape 25"/>
          <p:cNvSpPr/>
          <p:nvPr/>
        </p:nvSpPr>
        <p:spPr>
          <a:xfrm>
            <a:off x="7191756" y="4238244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0" descr="gen-dedup-24d4fca34e809d194cad257a6161628d.png"/>
          <p:cNvPicPr>
            <a:picLocks noChangeAspect="1"/>
          </p:cNvPicPr>
          <p:nvPr/>
        </p:nvPicPr>
        <p:blipFill>
          <a:blip r:embed="rId10"/>
          <a:srcRect t="-600" b="-600"/>
          <a:stretch/>
        </p:blipFill>
        <p:spPr>
          <a:xfrm>
            <a:off x="7338974" y="4371746"/>
            <a:ext cx="181051" cy="20939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334049" y="4905756"/>
            <a:ext cx="2190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과정 케어 &amp; 예약</a:t>
            </a:r>
            <a:endParaRPr lang="en-US" sz="1300" dirty="0"/>
          </a:p>
        </p:txBody>
      </p:sp>
      <p:sp>
        <p:nvSpPr>
          <p:cNvPr id="40" name="Text 27"/>
          <p:cNvSpPr txBox="1"/>
          <p:nvPr/>
        </p:nvSpPr>
        <p:spPr>
          <a:xfrm>
            <a:off x="6381598" y="5286146"/>
            <a:ext cx="20958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이후 AI 코스 합의부터 실시간 체크인까지 만남의 전 과정을 밀착 케어하여 데이트를 완주시킵니다.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9858146" y="4238244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11" descr="gen-dedup-c5898bdf3cdf43d220596ee1b828a0f8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991649" y="4371746"/>
            <a:ext cx="209398" cy="209398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001354" y="4905756"/>
            <a:ext cx="2190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철저한 검증 &amp; 안전</a:t>
            </a:r>
            <a:endParaRPr lang="en-US" sz="1300" dirty="0"/>
          </a:p>
        </p:txBody>
      </p:sp>
      <p:sp>
        <p:nvSpPr>
          <p:cNvPr id="44" name="Text 30"/>
          <p:cNvSpPr txBox="1"/>
          <p:nvPr/>
        </p:nvSpPr>
        <p:spPr>
          <a:xfrm>
            <a:off x="9048902" y="5286146"/>
            <a:ext cx="20958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허수 매칭을 방지하고 신뢰할 수 있는 안심 프로필을 통해 오프라인 안전사고 및 노쇼 리스크를 최소화합니다.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1429207" y="3810305"/>
            <a:ext cx="4762195" cy="4762195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4d2bf68a27c146fa65e0456c5816255c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761695" y="1714500"/>
            <a:ext cx="10668305" cy="1619402"/>
          </a:xfrm>
          <a:prstGeom prst="rect">
            <a:avLst/>
          </a:prstGeom>
        </p:spPr>
      </p:pic>
      <p:pic>
        <p:nvPicPr>
          <p:cNvPr id="7" name="Image 1" descr="gen-dedup-defb589139f44bb22ac98780ecca2f17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761695" y="4190695"/>
            <a:ext cx="2381098" cy="2286000"/>
          </a:xfrm>
          <a:prstGeom prst="rect">
            <a:avLst/>
          </a:prstGeom>
        </p:spPr>
      </p:pic>
      <p:pic>
        <p:nvPicPr>
          <p:cNvPr id="8" name="Image 2" descr="gen-dedup-defb589139f44bb22ac98780ecca2f17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3524098" y="4190695"/>
            <a:ext cx="2381098" cy="2286000"/>
          </a:xfrm>
          <a:prstGeom prst="rect">
            <a:avLst/>
          </a:prstGeom>
        </p:spPr>
      </p:pic>
      <p:pic>
        <p:nvPicPr>
          <p:cNvPr id="9" name="Image 3" descr="gen-dedup-defb589139f44bb22ac98780ecca2f17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286500" y="4190695"/>
            <a:ext cx="2381098" cy="2286000"/>
          </a:xfrm>
          <a:prstGeom prst="rect">
            <a:avLst/>
          </a:prstGeom>
        </p:spPr>
      </p:pic>
      <p:pic>
        <p:nvPicPr>
          <p:cNvPr id="10" name="Image 4" descr="gen-dedup-a606b7b61bef976cb20fa4327a211ab1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9048902" y="4190695"/>
            <a:ext cx="2381098" cy="22860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761695" y="476402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이음 </a:t>
            </a:r>
            <a:r>
              <a:rPr lang="en-US" sz="3300" b="1" kern="0" spc="-75" dirty="0" err="1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소개</a:t>
            </a:r>
            <a:endParaRPr lang="en-US" sz="3300" dirty="0"/>
          </a:p>
        </p:txBody>
      </p:sp>
      <p:sp>
        <p:nvSpPr>
          <p:cNvPr id="12" name="Text 5"/>
          <p:cNvSpPr txBox="1"/>
          <p:nvPr/>
        </p:nvSpPr>
        <p:spPr>
          <a:xfrm>
            <a:off x="761695" y="1143000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한눈에 보기</a:t>
            </a:r>
            <a:endParaRPr lang="en-US" sz="16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2000707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서비스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2324405"/>
            <a:ext cx="4191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외모</a:t>
            </a:r>
            <a:r>
              <a:rPr lang="en-US" sz="18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스펙 중심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2704795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소모적인 양적 매칭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5857646" y="2286000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/>
          <p:nvPr/>
        </p:nvSpPr>
        <p:spPr>
          <a:xfrm>
            <a:off x="5857646" y="2286000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6858000" y="2000707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이음 솔루션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633058" y="2324405"/>
            <a:ext cx="464149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삶의 방향 · 관계관 · 리스크 성향 반영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6858000" y="2704795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가능한 질적 매칭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619195"/>
            <a:ext cx="10668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이음 핵심 프로세스 4단계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1762049" y="4381805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gen-dedup-0bcdec3548ed0e9e4035897aaae713f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57146" y="4476902"/>
            <a:ext cx="190195" cy="19019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05256" y="4905756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기반 심층 진단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905256" y="5266944"/>
            <a:ext cx="2095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개인의 가치관, 생활 패턴, 경제 관념 등 다차원적인 문항을 통한 정밀 분석</a:t>
            </a:r>
            <a:endParaRPr lang="en-US" sz="1000" dirty="0"/>
          </a:p>
        </p:txBody>
      </p:sp>
      <p:pic>
        <p:nvPicPr>
          <p:cNvPr id="26" name="Image 6" descr="gen-dedup-43661d2539c2b061fde672034bc99ea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3310128" y="5219395"/>
            <a:ext cx="142646" cy="2286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4524451" y="4381805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7" descr="gen-dedup-0b883817823a3d0a256f760b2aa1c792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19549" y="4476902"/>
            <a:ext cx="190195" cy="1901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3666744" y="4905756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호환성 매칭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3666744" y="5266944"/>
            <a:ext cx="2095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기반의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고도화된</a:t>
            </a:r>
            <a:endParaRPr lang="en-US" sz="10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알고리즘으로 성향적 시너지가 높은 최적의 상대 추천</a:t>
            </a:r>
            <a:endParaRPr lang="en-US" sz="1000" dirty="0"/>
          </a:p>
        </p:txBody>
      </p:sp>
      <p:pic>
        <p:nvPicPr>
          <p:cNvPr id="31" name="Image 8" descr="gen-dedup-43661d2539c2b061fde672034bc99ea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6072530" y="5219395"/>
            <a:ext cx="142646" cy="22860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7286854" y="4381805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9" descr="gen-dedup-e71b79575ae4f1a4868be890e92c2d10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358177" y="4476902"/>
            <a:ext cx="237744" cy="190195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6429146" y="4905756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대화·만남</a:t>
            </a:r>
            <a:endParaRPr lang="en-US" sz="1300" dirty="0"/>
          </a:p>
        </p:txBody>
      </p:sp>
      <p:sp>
        <p:nvSpPr>
          <p:cNvPr id="35" name="Text 23"/>
          <p:cNvSpPr txBox="1"/>
          <p:nvPr/>
        </p:nvSpPr>
        <p:spPr>
          <a:xfrm>
            <a:off x="6429146" y="5266944"/>
            <a:ext cx="2095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자연스러운 대화 유도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가이드와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오프라인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연결을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통한</a:t>
            </a:r>
            <a:endParaRPr lang="en-US" sz="10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만남 지원</a:t>
            </a:r>
            <a:endParaRPr lang="en-US" sz="1000" dirty="0"/>
          </a:p>
        </p:txBody>
      </p:sp>
      <p:pic>
        <p:nvPicPr>
          <p:cNvPr id="36" name="Image 10" descr="gen-dedup-43661d2539c2b061fde672034bc99ea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8834018" y="5219395"/>
            <a:ext cx="142646" cy="228600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10049256" y="4381805"/>
            <a:ext cx="381305" cy="38130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1" descr="gen-dedup-cc0f15b373fa02610438a059938cec08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144354" y="4476902"/>
            <a:ext cx="190195" cy="190195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9191549" y="4905756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신뢰와 관계 증대</a:t>
            </a:r>
            <a:endParaRPr lang="en-US" sz="1300" dirty="0"/>
          </a:p>
        </p:txBody>
      </p:sp>
      <p:sp>
        <p:nvSpPr>
          <p:cNvPr id="40" name="Text 26"/>
          <p:cNvSpPr txBox="1"/>
          <p:nvPr/>
        </p:nvSpPr>
        <p:spPr>
          <a:xfrm>
            <a:off x="9191549" y="5266944"/>
            <a:ext cx="2095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단계의 </a:t>
            </a:r>
            <a:r>
              <a:rPr lang="en-US" sz="1000" dirty="0" err="1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품질과</a:t>
            </a:r>
            <a:r>
              <a:rPr lang="en-US" sz="1000" dirty="0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안전성을</a:t>
            </a:r>
            <a:endParaRPr lang="en-US" sz="1000" dirty="0">
              <a:solidFill>
                <a:srgbClr val="FFE6F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000" dirty="0" err="1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획기적으로</a:t>
            </a:r>
            <a:r>
              <a:rPr lang="en-US" sz="1000" dirty="0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높여</a:t>
            </a:r>
            <a:r>
              <a:rPr lang="en-US" sz="1000" dirty="0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장기적</a:t>
            </a:r>
            <a:endParaRPr lang="en-US" sz="1000" dirty="0">
              <a:solidFill>
                <a:srgbClr val="FFE6F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000" dirty="0" err="1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</a:t>
            </a:r>
            <a:r>
              <a:rPr lang="en-US" sz="1000" dirty="0">
                <a:solidFill>
                  <a:srgbClr val="FFE6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유지 확률 극대화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29c6b05d82512526a34d48bc3b347af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5598" y="1429207"/>
            <a:ext cx="4000500" cy="4000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90695" y="2190902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15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만남을 기획하는 서비스</a:t>
            </a:r>
            <a:endParaRPr lang="en-US" sz="1500" dirty="0"/>
          </a:p>
        </p:txBody>
      </p:sp>
      <p:pic>
        <p:nvPicPr>
          <p:cNvPr id="8" name="Image 1" descr="gen-dedup-f86bcbc0d7030b6bbbde91a04ccb5da6.png"/>
          <p:cNvPicPr>
            <a:picLocks noChangeAspect="1"/>
          </p:cNvPicPr>
          <p:nvPr/>
        </p:nvPicPr>
        <p:blipFill>
          <a:blip r:embed="rId4"/>
          <a:srcRect l="-411" r="-411"/>
          <a:stretch/>
        </p:blipFill>
        <p:spPr>
          <a:xfrm>
            <a:off x="5843930" y="2704795"/>
            <a:ext cx="504749" cy="4005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90695" y="3143707"/>
            <a:ext cx="381030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-22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이음</a:t>
            </a:r>
            <a:endParaRPr lang="en-US" sz="6400" dirty="0"/>
          </a:p>
        </p:txBody>
      </p:sp>
      <p:sp>
        <p:nvSpPr>
          <p:cNvPr id="10" name="Text 6"/>
          <p:cNvSpPr txBox="1"/>
          <p:nvPr/>
        </p:nvSpPr>
        <p:spPr>
          <a:xfrm>
            <a:off x="4190695" y="433425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50" dirty="0" err="1">
                <a:solidFill>
                  <a:srgbClr val="FFB6C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iEUM</a:t>
            </a:r>
            <a:r>
              <a:rPr lang="en-US" sz="1200" b="1" kern="0" spc="450" dirty="0">
                <a:solidFill>
                  <a:srgbClr val="FFB6C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MATCHING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168042" y="5905195"/>
            <a:ext cx="785652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-37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만남을 넘어, 당신의 </a:t>
            </a:r>
            <a:r>
              <a:rPr lang="en-US" sz="1600" b="1" kern="0" spc="-37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</a:t>
            </a:r>
            <a:r>
              <a:rPr lang="en-US" sz="1600" kern="0" spc="-37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600" b="1" kern="0" spc="-37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삶의 방향</a:t>
            </a:r>
            <a:r>
              <a:rPr lang="en-US" sz="1600" kern="0" spc="-37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일치하는 인연을 잇습니다.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952805"/>
            <a:ext cx="5715000" cy="5715000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83A17-A644-A072-6D95-04B089D03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7DBECE-64A7-AB9A-7551-D8254EC4626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30ED43-9E81-912D-C44E-1CAEC6594DD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29c6b05d82512526a34d48bc3b347af0.png">
            <a:extLst>
              <a:ext uri="{FF2B5EF4-FFF2-40B4-BE49-F238E27FC236}">
                <a16:creationId xmlns:a16="http://schemas.microsoft.com/office/drawing/2014/main" id="{8A51BC91-AB57-2B67-9152-1B7F8C8483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5598" y="1429207"/>
            <a:ext cx="4000500" cy="400050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7EB4B76-B372-BCE2-F4CE-890E51E2B5DE}"/>
              </a:ext>
            </a:extLst>
          </p:cNvPr>
          <p:cNvSpPr txBox="1"/>
          <p:nvPr/>
        </p:nvSpPr>
        <p:spPr>
          <a:xfrm>
            <a:off x="4190695" y="2190902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15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만남을 기획하는 서비스</a:t>
            </a:r>
            <a:endParaRPr lang="en-US" sz="1500" dirty="0"/>
          </a:p>
        </p:txBody>
      </p:sp>
      <p:pic>
        <p:nvPicPr>
          <p:cNvPr id="8" name="Image 1" descr="gen-dedup-f86bcbc0d7030b6bbbde91a04ccb5da6.png">
            <a:extLst>
              <a:ext uri="{FF2B5EF4-FFF2-40B4-BE49-F238E27FC236}">
                <a16:creationId xmlns:a16="http://schemas.microsoft.com/office/drawing/2014/main" id="{2E26A759-8DEE-815F-DAEC-93BB47F902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11" r="-411"/>
          <a:stretch/>
        </p:blipFill>
        <p:spPr>
          <a:xfrm>
            <a:off x="5843930" y="2704795"/>
            <a:ext cx="504749" cy="4005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6189B3E0-EB49-717F-C5E5-A9953F0A191C}"/>
              </a:ext>
            </a:extLst>
          </p:cNvPr>
          <p:cNvSpPr txBox="1"/>
          <p:nvPr/>
        </p:nvSpPr>
        <p:spPr>
          <a:xfrm>
            <a:off x="4190695" y="3143707"/>
            <a:ext cx="381030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-22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이음</a:t>
            </a:r>
            <a:endParaRPr lang="en-US" sz="6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F07D1F6-3C5E-07AF-EDDA-61BD9C5F6522}"/>
              </a:ext>
            </a:extLst>
          </p:cNvPr>
          <p:cNvSpPr txBox="1"/>
          <p:nvPr/>
        </p:nvSpPr>
        <p:spPr>
          <a:xfrm>
            <a:off x="4190695" y="433425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50" dirty="0" err="1">
                <a:solidFill>
                  <a:srgbClr val="FFB6C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iEUM</a:t>
            </a:r>
            <a:r>
              <a:rPr lang="en-US" sz="1200" b="1" kern="0" spc="450" dirty="0">
                <a:solidFill>
                  <a:srgbClr val="FFB6C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MATCHING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C1BD11E-8B42-197B-1CC0-BE174C8949B5}"/>
              </a:ext>
            </a:extLst>
          </p:cNvPr>
          <p:cNvSpPr txBox="1"/>
          <p:nvPr/>
        </p:nvSpPr>
        <p:spPr>
          <a:xfrm>
            <a:off x="2168042" y="5905195"/>
            <a:ext cx="785652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-37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만남을 넘어, 당신의 </a:t>
            </a:r>
            <a:r>
              <a:rPr lang="en-US" sz="1600" b="1" kern="0" spc="-37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</a:t>
            </a:r>
            <a:r>
              <a:rPr lang="en-US" sz="1600" kern="0" spc="-37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600" b="1" kern="0" spc="-37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삶의 방향</a:t>
            </a:r>
            <a:r>
              <a:rPr lang="en-US" sz="1600" kern="0" spc="-37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일치하는 인연을 잇습니다.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3ADC0D-535F-C5C4-C218-F8461688F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98" y="0"/>
            <a:ext cx="9516863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68668556-C3E8-1F2E-2547-22536496F51A}"/>
              </a:ext>
            </a:extLst>
          </p:cNvPr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81DEB9-9C51-9352-2987-C27809F3F948}"/>
              </a:ext>
            </a:extLst>
          </p:cNvPr>
          <p:cNvSpPr/>
          <p:nvPr/>
        </p:nvSpPr>
        <p:spPr>
          <a:xfrm>
            <a:off x="-1904695" y="-952805"/>
            <a:ext cx="5715000" cy="5715000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78993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2857500"/>
            <a:ext cx="2857500" cy="2857500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305" y="-476402"/>
            <a:ext cx="3333902" cy="3333902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5"/>
          <p:cNvSpPr txBox="1"/>
          <p:nvPr/>
        </p:nvSpPr>
        <p:spPr>
          <a:xfrm>
            <a:off x="761695" y="476402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시연 화면</a:t>
            </a:r>
            <a:endParaRPr lang="en-US" sz="3300" dirty="0"/>
          </a:p>
        </p:txBody>
      </p:sp>
      <p:sp>
        <p:nvSpPr>
          <p:cNvPr id="13" name="Text 6"/>
          <p:cNvSpPr txBox="1"/>
          <p:nvPr/>
        </p:nvSpPr>
        <p:spPr>
          <a:xfrm>
            <a:off x="761695" y="1190549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 기반 AI 매칭 </a:t>
            </a:r>
            <a:r>
              <a:rPr 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소개</a:t>
            </a:r>
            <a:endParaRPr lang="en-US" sz="16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3403BFB-3B15-8E5D-E737-3414C1A7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695" y="1953005"/>
            <a:ext cx="3628645" cy="36286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FCE3571-D86B-36EB-CCDD-079D17EB8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276" y="361304"/>
            <a:ext cx="3224987" cy="6157204"/>
          </a:xfrm>
          <a:prstGeom prst="rect">
            <a:avLst/>
          </a:prstGeom>
        </p:spPr>
      </p:pic>
      <p:pic>
        <p:nvPicPr>
          <p:cNvPr id="41" name="Picture 40">
            <a:hlinkClick r:id="rId5"/>
            <a:extLst>
              <a:ext uri="{FF2B5EF4-FFF2-40B4-BE49-F238E27FC236}">
                <a16:creationId xmlns:a16="http://schemas.microsoft.com/office/drawing/2014/main" id="{781C14A6-5912-3E47-8A2F-5BB3630A76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6419" y="3000527"/>
            <a:ext cx="504000" cy="50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3000" accel="100000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41"/>
                                        </p:tgtEl>
                                      </p:cBhvr>
                                      <p:by x="113000" y="11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287000" y="4953305"/>
            <a:ext cx="2857500" cy="2857500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b243edf6fdf67f48d4a785c9e7dc2e27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761695" y="1809598"/>
            <a:ext cx="10668305" cy="26673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47902" y="2095805"/>
            <a:ext cx="1619402" cy="2095805"/>
          </a:xfrm>
          <a:prstGeom prst="roundRect">
            <a:avLst>
              <a:gd name="adj" fmla="val 10629"/>
            </a:avLst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191256" y="2095805"/>
            <a:ext cx="1619402" cy="2095805"/>
          </a:xfrm>
          <a:prstGeom prst="roundRect">
            <a:avLst>
              <a:gd name="adj" fmla="val 10629"/>
            </a:avLst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333695" y="2095805"/>
            <a:ext cx="1619402" cy="2095805"/>
          </a:xfrm>
          <a:prstGeom prst="roundRect">
            <a:avLst>
              <a:gd name="adj" fmla="val 10629"/>
            </a:avLst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477049" y="2095805"/>
            <a:ext cx="1619402" cy="2095805"/>
          </a:xfrm>
          <a:prstGeom prst="roundRect">
            <a:avLst>
              <a:gd name="adj" fmla="val 10629"/>
            </a:avLst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620402" y="2095805"/>
            <a:ext cx="1619402" cy="2095805"/>
          </a:xfrm>
          <a:prstGeom prst="roundRect">
            <a:avLst>
              <a:gd name="adj" fmla="val 10629"/>
            </a:avLst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d7bbb58b4cb1439b023051ca7a99448f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761695" y="5333695"/>
            <a:ext cx="3333902" cy="1181405"/>
          </a:xfrm>
          <a:prstGeom prst="rect">
            <a:avLst/>
          </a:prstGeom>
        </p:spPr>
      </p:pic>
      <p:pic>
        <p:nvPicPr>
          <p:cNvPr id="13" name="Image 2" descr="gen-dedup-d7bbb58b4cb1439b023051ca7a99448f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4448556" y="5333695"/>
            <a:ext cx="3333902" cy="1181405"/>
          </a:xfrm>
          <a:prstGeom prst="rect">
            <a:avLst/>
          </a:prstGeom>
        </p:spPr>
      </p:pic>
      <p:pic>
        <p:nvPicPr>
          <p:cNvPr id="14" name="Image 3" descr="gen-dedup-d7bbb58b4cb1439b023051ca7a99448f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8134502" y="5333695"/>
            <a:ext cx="3333902" cy="11814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1695" y="476402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흐름</a:t>
            </a:r>
            <a:endParaRPr lang="en-US" sz="33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1190549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여정 단계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047902" y="2286000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200" dirty="0"/>
          </a:p>
        </p:txBody>
      </p:sp>
      <p:pic>
        <p:nvPicPr>
          <p:cNvPr id="18" name="Image 4" descr="gen-dedup-1348ae49e64b0e41ccc7587f6faaac3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90726" y="2723998"/>
            <a:ext cx="333756" cy="2670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43000" y="3143707"/>
            <a:ext cx="1429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· 진단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3467405"/>
            <a:ext cx="1429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가입 후 심층 가치관 진단 진행 및 상세 프로필 생성</a:t>
            </a:r>
            <a:endParaRPr lang="en-US" sz="900" dirty="0"/>
          </a:p>
        </p:txBody>
      </p:sp>
      <p:pic>
        <p:nvPicPr>
          <p:cNvPr id="21" name="Image 5" descr="gen-dedup-43661d2539c2b061fde672034bc99ea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2881274" y="3029407"/>
            <a:ext cx="142646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3191256" y="2286000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200" dirty="0"/>
          </a:p>
        </p:txBody>
      </p:sp>
      <p:pic>
        <p:nvPicPr>
          <p:cNvPr id="23" name="Image 6" descr="gen-dedup-2ac2796fa161138a1e89c800d7501142.png"/>
          <p:cNvPicPr>
            <a:picLocks noChangeAspect="1"/>
          </p:cNvPicPr>
          <p:nvPr/>
        </p:nvPicPr>
        <p:blipFill>
          <a:blip r:embed="rId7"/>
          <a:srcRect l="-685" r="-685"/>
          <a:stretch/>
        </p:blipFill>
        <p:spPr>
          <a:xfrm>
            <a:off x="3847795" y="2723998"/>
            <a:ext cx="304495" cy="26700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3286354" y="3143707"/>
            <a:ext cx="1429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제안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3286354" y="3467405"/>
            <a:ext cx="14292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호환성 스코어 기반으로 성향적 시너지가 </a:t>
            </a: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</a:t>
            </a: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파트너</a:t>
            </a:r>
            <a:endParaRPr lang="en-US" sz="9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</a:t>
            </a:r>
            <a:endParaRPr lang="en-US" sz="900" dirty="0"/>
          </a:p>
        </p:txBody>
      </p:sp>
      <p:pic>
        <p:nvPicPr>
          <p:cNvPr id="26" name="Image 7" descr="gen-dedup-43661d2539c2b061fde672034bc99ea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5024628" y="3029407"/>
            <a:ext cx="142646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333695" y="2286000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200" dirty="0"/>
          </a:p>
        </p:txBody>
      </p:sp>
      <p:pic>
        <p:nvPicPr>
          <p:cNvPr id="28" name="Image 8" descr="gen-dedup-fead558ddac675d5a02102ba82c7775b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76518" y="2723998"/>
            <a:ext cx="333756" cy="2670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429707" y="3143707"/>
            <a:ext cx="1429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&amp; 탐색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5429707" y="3467405"/>
            <a:ext cx="14292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 아이스브레이커 키트 제공으로 </a:t>
            </a: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자연스러운</a:t>
            </a: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</a:t>
            </a:r>
            <a:endParaRPr lang="en-US" sz="9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유도</a:t>
            </a:r>
            <a:endParaRPr lang="en-US" sz="900" dirty="0"/>
          </a:p>
        </p:txBody>
      </p:sp>
      <p:pic>
        <p:nvPicPr>
          <p:cNvPr id="31" name="Image 9" descr="gen-dedup-43661d2539c2b061fde672034bc99ea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7167982" y="3029407"/>
            <a:ext cx="142646" cy="2286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7477049" y="2286000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1200" dirty="0"/>
          </a:p>
        </p:txBody>
      </p:sp>
      <p:pic>
        <p:nvPicPr>
          <p:cNvPr id="33" name="Image 10" descr="gen-dedup-9b5dcc2ca00ad3e274f6171714be5e26.png"/>
          <p:cNvPicPr>
            <a:picLocks noChangeAspect="1"/>
          </p:cNvPicPr>
          <p:nvPr/>
        </p:nvPicPr>
        <p:blipFill>
          <a:blip r:embed="rId9"/>
          <a:srcRect l="-685" r="-685"/>
          <a:stretch/>
        </p:blipFill>
        <p:spPr>
          <a:xfrm>
            <a:off x="8134502" y="2723998"/>
            <a:ext cx="304495" cy="26700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7572146" y="3143707"/>
            <a:ext cx="1429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만남 설계</a:t>
            </a:r>
            <a:endParaRPr lang="en-US" sz="1300" dirty="0"/>
          </a:p>
        </p:txBody>
      </p:sp>
      <p:sp>
        <p:nvSpPr>
          <p:cNvPr id="35" name="Text 22"/>
          <p:cNvSpPr txBox="1"/>
          <p:nvPr/>
        </p:nvSpPr>
        <p:spPr>
          <a:xfrm>
            <a:off x="7572146" y="3467405"/>
            <a:ext cx="14292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 공통 </a:t>
            </a: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관심사를</a:t>
            </a: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반영한</a:t>
            </a:r>
            <a:endParaRPr lang="en-US" sz="9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</a:t>
            </a: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활동 및 </a:t>
            </a: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</a:t>
            </a: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</a:t>
            </a:r>
            <a:endParaRPr lang="en-US" sz="9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</a:t>
            </a:r>
            <a:endParaRPr lang="en-US" sz="900" dirty="0"/>
          </a:p>
        </p:txBody>
      </p:sp>
      <p:pic>
        <p:nvPicPr>
          <p:cNvPr id="36" name="Image 11" descr="gen-dedup-43661d2539c2b061fde672034bc99ea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9310421" y="3029407"/>
            <a:ext cx="142646" cy="22860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9620402" y="2286000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1200" dirty="0"/>
          </a:p>
        </p:txBody>
      </p:sp>
      <p:pic>
        <p:nvPicPr>
          <p:cNvPr id="38" name="Image 12" descr="gen-dedup-c56ab544dfcaf870e23faa876a7928e7.png"/>
          <p:cNvPicPr>
            <a:picLocks noChangeAspect="1"/>
          </p:cNvPicPr>
          <p:nvPr/>
        </p:nvPicPr>
        <p:blipFill>
          <a:blip r:embed="rId10"/>
          <a:srcRect l="-5556" r="-5556"/>
          <a:stretch/>
        </p:blipFill>
        <p:spPr>
          <a:xfrm>
            <a:off x="10263226" y="2723998"/>
            <a:ext cx="333756" cy="267005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9715500" y="3143707"/>
            <a:ext cx="1429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</a:t>
            </a:r>
            <a:endParaRPr lang="en-US" sz="1300" dirty="0"/>
          </a:p>
        </p:txBody>
      </p:sp>
      <p:sp>
        <p:nvSpPr>
          <p:cNvPr id="40" name="Text 25"/>
          <p:cNvSpPr txBox="1"/>
          <p:nvPr/>
        </p:nvSpPr>
        <p:spPr>
          <a:xfrm>
            <a:off x="9715500" y="3467405"/>
            <a:ext cx="1429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만남 후기 수집 및 차기 매칭 알고리즘 고도화 반영</a:t>
            </a:r>
            <a:endParaRPr lang="en-US" sz="900" dirty="0"/>
          </a:p>
        </p:txBody>
      </p:sp>
      <p:sp>
        <p:nvSpPr>
          <p:cNvPr id="41" name="Text 26"/>
          <p:cNvSpPr txBox="1"/>
          <p:nvPr/>
        </p:nvSpPr>
        <p:spPr>
          <a:xfrm>
            <a:off x="761695" y="4762195"/>
            <a:ext cx="10668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 달성 목표</a:t>
            </a:r>
            <a:endParaRPr lang="en-US" sz="1800" dirty="0"/>
          </a:p>
        </p:txBody>
      </p:sp>
      <p:sp>
        <p:nvSpPr>
          <p:cNvPr id="42" name="Shape 27"/>
          <p:cNvSpPr/>
          <p:nvPr/>
        </p:nvSpPr>
        <p:spPr>
          <a:xfrm>
            <a:off x="1047902" y="5667451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3" descr="gen-dedup-ab91dd5fecd0df3f2a60fe6fc4d977e5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1157630" y="5790895"/>
            <a:ext cx="256946" cy="228600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1714500" y="5572354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7일 대화 개시율</a:t>
            </a:r>
            <a:endParaRPr lang="en-US" sz="1300" dirty="0"/>
          </a:p>
        </p:txBody>
      </p:sp>
      <p:sp>
        <p:nvSpPr>
          <p:cNvPr id="45" name="Text 29"/>
          <p:cNvSpPr txBox="1"/>
          <p:nvPr/>
        </p:nvSpPr>
        <p:spPr>
          <a:xfrm>
            <a:off x="1714500" y="5867705"/>
            <a:ext cx="2095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상승 유도</a:t>
            </a:r>
            <a:endParaRPr lang="en-US" sz="1900" dirty="0"/>
          </a:p>
        </p:txBody>
      </p:sp>
      <p:sp>
        <p:nvSpPr>
          <p:cNvPr id="46" name="Shape 30"/>
          <p:cNvSpPr/>
          <p:nvPr/>
        </p:nvSpPr>
        <p:spPr>
          <a:xfrm>
            <a:off x="4733849" y="5667451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4" descr="gen-dedup-3d4001d8748a24f16b5f77ba232abecc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858207" y="5790895"/>
            <a:ext cx="228600" cy="22860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400446" y="5572354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1→2차 만남 전환율</a:t>
            </a:r>
            <a:endParaRPr lang="en-US" sz="1300" dirty="0"/>
          </a:p>
        </p:txBody>
      </p:sp>
      <p:sp>
        <p:nvSpPr>
          <p:cNvPr id="49" name="Text 32"/>
          <p:cNvSpPr txBox="1"/>
          <p:nvPr/>
        </p:nvSpPr>
        <p:spPr>
          <a:xfrm>
            <a:off x="5400446" y="5867705"/>
            <a:ext cx="2095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증대</a:t>
            </a:r>
            <a:endParaRPr lang="en-US" sz="1900" dirty="0"/>
          </a:p>
        </p:txBody>
      </p:sp>
      <p:sp>
        <p:nvSpPr>
          <p:cNvPr id="50" name="Shape 33"/>
          <p:cNvSpPr/>
          <p:nvPr/>
        </p:nvSpPr>
        <p:spPr>
          <a:xfrm>
            <a:off x="8419795" y="5667451"/>
            <a:ext cx="476402" cy="476402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5" descr="gen-dedup-36af5fef7866a4709e6357ef3c4b55b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544154" y="5790895"/>
            <a:ext cx="228600" cy="228600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087307" y="5572354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전반적 만족도</a:t>
            </a:r>
            <a:endParaRPr lang="en-US" sz="1300" dirty="0"/>
          </a:p>
        </p:txBody>
      </p:sp>
      <p:sp>
        <p:nvSpPr>
          <p:cNvPr id="53" name="Text 35"/>
          <p:cNvSpPr txBox="1"/>
          <p:nvPr/>
        </p:nvSpPr>
        <p:spPr>
          <a:xfrm>
            <a:off x="9087307" y="5867705"/>
            <a:ext cx="2095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극대화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3810305"/>
            <a:ext cx="3333902" cy="3333902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e0843a579eab7c0e4950f01d2db5b78e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952805" y="1904695"/>
            <a:ext cx="2190902" cy="3047695"/>
          </a:xfrm>
          <a:prstGeom prst="rect">
            <a:avLst/>
          </a:prstGeom>
        </p:spPr>
      </p:pic>
      <p:pic>
        <p:nvPicPr>
          <p:cNvPr id="7" name="Image 1" descr="gen-dedup-e0843a579eab7c0e4950f01d2db5b78e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3524098" y="1904695"/>
            <a:ext cx="2190902" cy="3047695"/>
          </a:xfrm>
          <a:prstGeom prst="rect">
            <a:avLst/>
          </a:prstGeom>
        </p:spPr>
      </p:pic>
      <p:pic>
        <p:nvPicPr>
          <p:cNvPr id="8" name="Image 2" descr="gen-dedup-e0843a579eab7c0e4950f01d2db5b78e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6096305" y="1904695"/>
            <a:ext cx="2190902" cy="3047695"/>
          </a:xfrm>
          <a:prstGeom prst="rect">
            <a:avLst/>
          </a:prstGeom>
        </p:spPr>
      </p:pic>
      <p:pic>
        <p:nvPicPr>
          <p:cNvPr id="9" name="Image 3" descr="gen-dedup-e0843a579eab7c0e4950f01d2db5b78e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8667598" y="1904695"/>
            <a:ext cx="2190902" cy="304769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952805" y="5238598"/>
            <a:ext cx="10325405" cy="1181405"/>
          </a:xfrm>
          <a:prstGeom prst="roundRect">
            <a:avLst>
              <a:gd name="adj" fmla="val 24968"/>
            </a:avLst>
          </a:prstGeom>
          <a:solidFill>
            <a:srgbClr val="FFFFFF"/>
          </a:solidFill>
          <a:ln w="25400">
            <a:solidFill>
              <a:srgbClr val="FFB6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 txBox="1"/>
          <p:nvPr/>
        </p:nvSpPr>
        <p:spPr>
          <a:xfrm>
            <a:off x="761695" y="476402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</a:t>
            </a:r>
            <a:endParaRPr lang="en-US" sz="3300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1190549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매칭 알고리즘 파이프라인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1762049" y="2286000"/>
            <a:ext cx="571500" cy="571500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gen-dedup-dc9a37eafcf4c2669f244328821264b0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933956" y="2457907"/>
            <a:ext cx="228600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47902" y="3047695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1047902" y="3295498"/>
            <a:ext cx="2000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&amp; 임베딩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1047902" y="3657600"/>
            <a:ext cx="20007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온보딩 설문 및 행동 데이터 수집, LLM·추천모델 기반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고도화된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특성</a:t>
            </a:r>
            <a:endParaRPr lang="en-US" sz="10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</a:t>
            </a:r>
            <a:endParaRPr lang="en-US" sz="1000" dirty="0"/>
          </a:p>
        </p:txBody>
      </p:sp>
      <p:pic>
        <p:nvPicPr>
          <p:cNvPr id="18" name="Image 5" descr="gen-dedup-1e0218e73862e4654836e2a33f9f59e0.png"/>
          <p:cNvPicPr>
            <a:picLocks noChangeAspect="1"/>
          </p:cNvPicPr>
          <p:nvPr/>
        </p:nvPicPr>
        <p:blipFill>
          <a:blip r:embed="rId5"/>
          <a:srcRect l="-30000" r="-30000"/>
          <a:stretch/>
        </p:blipFill>
        <p:spPr>
          <a:xfrm>
            <a:off x="3200400" y="3295498"/>
            <a:ext cx="267005" cy="26700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334256" y="2286000"/>
            <a:ext cx="571500" cy="571500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6" descr="gen-dedup-4b84f2214578bc31791d57cdc4bb6edf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4505249" y="2457907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3619195" y="3047695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3619195" y="3295498"/>
            <a:ext cx="2000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호환성 스코어링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3619195" y="3657600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 유사성 및 보완성 정밀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제약 조건 충돌 최소화 평가</a:t>
            </a:r>
            <a:endParaRPr lang="en-US" sz="1000" dirty="0"/>
          </a:p>
        </p:txBody>
      </p:sp>
      <p:pic>
        <p:nvPicPr>
          <p:cNvPr id="24" name="Image 7" descr="gen-dedup-1e0218e73862e4654836e2a33f9f59e0.png"/>
          <p:cNvPicPr>
            <a:picLocks noChangeAspect="1"/>
          </p:cNvPicPr>
          <p:nvPr/>
        </p:nvPicPr>
        <p:blipFill>
          <a:blip r:embed="rId5"/>
          <a:srcRect l="-30000" r="-30000"/>
          <a:stretch/>
        </p:blipFill>
        <p:spPr>
          <a:xfrm>
            <a:off x="5772607" y="3295498"/>
            <a:ext cx="267005" cy="267005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6905549" y="2286000"/>
            <a:ext cx="571500" cy="571500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8" descr="gen-dedup-6a00bd896b6067ebfc9408f895021fef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77456" y="2457907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191402" y="3047695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000" dirty="0"/>
          </a:p>
        </p:txBody>
      </p:sp>
      <p:sp>
        <p:nvSpPr>
          <p:cNvPr id="28" name="Text 17"/>
          <p:cNvSpPr txBox="1"/>
          <p:nvPr/>
        </p:nvSpPr>
        <p:spPr>
          <a:xfrm>
            <a:off x="6191402" y="3295498"/>
            <a:ext cx="2000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랭킹 &amp; 추천</a:t>
            </a:r>
            <a:endParaRPr lang="en-US" sz="1300" dirty="0"/>
          </a:p>
        </p:txBody>
      </p:sp>
      <p:sp>
        <p:nvSpPr>
          <p:cNvPr id="29" name="Text 18"/>
          <p:cNvSpPr txBox="1"/>
          <p:nvPr/>
        </p:nvSpPr>
        <p:spPr>
          <a:xfrm>
            <a:off x="6191402" y="3657600"/>
            <a:ext cx="20007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탐색적 매칭 비율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조절을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통한</a:t>
            </a:r>
            <a:endParaRPr lang="en-US" sz="10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탐색-활용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균형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파트너 순위화 제공</a:t>
            </a:r>
            <a:endParaRPr lang="en-US" sz="1000" dirty="0"/>
          </a:p>
        </p:txBody>
      </p:sp>
      <p:pic>
        <p:nvPicPr>
          <p:cNvPr id="30" name="Image 9" descr="gen-dedup-1e0218e73862e4654836e2a33f9f59e0.png"/>
          <p:cNvPicPr>
            <a:picLocks noChangeAspect="1"/>
          </p:cNvPicPr>
          <p:nvPr/>
        </p:nvPicPr>
        <p:blipFill>
          <a:blip r:embed="rId5"/>
          <a:srcRect l="-30000" r="-30000"/>
          <a:stretch/>
        </p:blipFill>
        <p:spPr>
          <a:xfrm>
            <a:off x="8343900" y="3295498"/>
            <a:ext cx="267005" cy="267005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9477756" y="2286000"/>
            <a:ext cx="571500" cy="571500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10" descr="gen-dedup-0d326ef94823461b5eb13d483101d60f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48749" y="2457907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8762695" y="3047695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000" dirty="0"/>
          </a:p>
        </p:txBody>
      </p:sp>
      <p:sp>
        <p:nvSpPr>
          <p:cNvPr id="34" name="Text 21"/>
          <p:cNvSpPr txBox="1"/>
          <p:nvPr/>
        </p:nvSpPr>
        <p:spPr>
          <a:xfrm>
            <a:off x="8762695" y="3295498"/>
            <a:ext cx="2000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학습</a:t>
            </a:r>
            <a:endParaRPr lang="en-US" sz="1300" dirty="0"/>
          </a:p>
        </p:txBody>
      </p:sp>
      <p:sp>
        <p:nvSpPr>
          <p:cNvPr id="35" name="Text 22"/>
          <p:cNvSpPr txBox="1"/>
          <p:nvPr/>
        </p:nvSpPr>
        <p:spPr>
          <a:xfrm>
            <a:off x="8762695" y="3657600"/>
            <a:ext cx="20007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성사율, 대화 지속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</a:t>
            </a:r>
            <a:r>
              <a:rPr lang="ko-KR" alt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</a:t>
            </a:r>
            <a:endParaRPr lang="en-US" altLang="ko-KR" sz="10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알고리즘 강화</a:t>
            </a:r>
            <a:endParaRPr lang="en-US" sz="1000" dirty="0"/>
          </a:p>
        </p:txBody>
      </p:sp>
      <p:sp>
        <p:nvSpPr>
          <p:cNvPr id="36" name="Shape 23"/>
          <p:cNvSpPr/>
          <p:nvPr/>
        </p:nvSpPr>
        <p:spPr>
          <a:xfrm>
            <a:off x="1333195" y="5524805"/>
            <a:ext cx="571500" cy="571500"/>
          </a:xfrm>
          <a:prstGeom prst="ellipse">
            <a:avLst/>
          </a:prstGeom>
          <a:solidFill>
            <a:srgbClr val="D81B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1" descr="gen-dedup-925b10aca677c8ef4438fca847302754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485900" y="5676595"/>
            <a:ext cx="267005" cy="267005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2190902" y="5477256"/>
            <a:ext cx="8763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기반: 프라이버시 및 공정성 확보</a:t>
            </a:r>
            <a:endParaRPr lang="en-US" sz="1500" dirty="0"/>
          </a:p>
        </p:txBody>
      </p:sp>
      <p:sp>
        <p:nvSpPr>
          <p:cNvPr id="39" name="Text 25"/>
          <p:cNvSpPr txBox="1"/>
          <p:nvPr/>
        </p:nvSpPr>
        <p:spPr>
          <a:xfrm>
            <a:off x="2190902" y="5829300"/>
            <a:ext cx="8763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K-익명화 적용을 통한 철저한 개인정보 보호 및 AI 편향성(Bias) 상시 모니터링 시스템 운영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4286707" cy="4286707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305" y="4286707"/>
            <a:ext cx="3333902" cy="3333902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19e559d1440ecf8efd50f600b60e3f47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761695" y="1904695"/>
            <a:ext cx="5143500" cy="2000707"/>
          </a:xfrm>
          <a:prstGeom prst="rect">
            <a:avLst/>
          </a:prstGeom>
        </p:spPr>
      </p:pic>
      <p:pic>
        <p:nvPicPr>
          <p:cNvPr id="7" name="Image 1" descr="gen-dedup-19e559d1440ecf8efd50f600b60e3f47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6286500" y="1904695"/>
            <a:ext cx="5143500" cy="2000707"/>
          </a:xfrm>
          <a:prstGeom prst="rect">
            <a:avLst/>
          </a:prstGeom>
        </p:spPr>
      </p:pic>
      <p:pic>
        <p:nvPicPr>
          <p:cNvPr id="8" name="Image 2" descr="gen-dedup-19e559d1440ecf8efd50f600b60e3f47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761695" y="4286707"/>
            <a:ext cx="5143500" cy="2000707"/>
          </a:xfrm>
          <a:prstGeom prst="rect">
            <a:avLst/>
          </a:prstGeom>
        </p:spPr>
      </p:pic>
      <p:pic>
        <p:nvPicPr>
          <p:cNvPr id="9" name="Image 3" descr="gen-dedup-19e559d1440ecf8efd50f600b60e3f47.png"/>
          <p:cNvPicPr>
            <a:picLocks noChangeAspect="1"/>
          </p:cNvPicPr>
          <p:nvPr/>
        </p:nvPicPr>
        <p:blipFill>
          <a:blip r:embed="rId3"/>
          <a:srcRect t="-11" b="-11"/>
          <a:stretch/>
        </p:blipFill>
        <p:spPr>
          <a:xfrm>
            <a:off x="6286500" y="4286707"/>
            <a:ext cx="5143500" cy="2000707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61695" y="476402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모델</a:t>
            </a:r>
            <a:endParaRPr lang="en-US" sz="3300" dirty="0"/>
          </a:p>
        </p:txBody>
      </p:sp>
      <p:sp>
        <p:nvSpPr>
          <p:cNvPr id="11" name="Text 5"/>
          <p:cNvSpPr txBox="1"/>
          <p:nvPr/>
        </p:nvSpPr>
        <p:spPr>
          <a:xfrm>
            <a:off x="761695" y="1190549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모델 (Business Model)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1095451" y="2238451"/>
            <a:ext cx="571500" cy="571500"/>
          </a:xfrm>
          <a:prstGeom prst="roundRect">
            <a:avLst>
              <a:gd name="adj" fmla="val 85333"/>
            </a:avLst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eefb06d60841617d2edcc8d6784261d0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248156" y="2391156"/>
            <a:ext cx="267005" cy="2670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857146" y="2238451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 구독</a:t>
            </a:r>
            <a:endParaRPr lang="en-US" sz="1600" dirty="0"/>
          </a:p>
        </p:txBody>
      </p:sp>
      <p:sp>
        <p:nvSpPr>
          <p:cNvPr id="15" name="Text 8"/>
          <p:cNvSpPr txBox="1"/>
          <p:nvPr/>
        </p:nvSpPr>
        <p:spPr>
          <a:xfrm>
            <a:off x="1857146" y="2667305"/>
            <a:ext cx="3620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세부 필터 적용, 프로필 가시성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부스트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그리고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오프라인 이벤트 매칭 시 우선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참여권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혜택 제공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620256" y="2238451"/>
            <a:ext cx="571500" cy="571500"/>
          </a:xfrm>
          <a:prstGeom prst="roundRect">
            <a:avLst>
              <a:gd name="adj" fmla="val 85333"/>
            </a:avLst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5" descr="gen-dedup-acebf767366ebd1f19f9e69cc23af44f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6772046" y="2391156"/>
            <a:ext cx="267005" cy="26700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381951" y="2238451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/ 클럽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7381951" y="2667305"/>
            <a:ext cx="3620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관심사 기반의 프리미엄 테마 모임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철저하게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검증된 제휴 공간에서의 네트워킹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파티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티켓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1095451" y="4619549"/>
            <a:ext cx="571500" cy="571500"/>
          </a:xfrm>
          <a:prstGeom prst="roundRect">
            <a:avLst>
              <a:gd name="adj" fmla="val 85333"/>
            </a:avLst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6" descr="gen-dedup-16bbc22f40f6547a65c0b08dcde98948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1248156" y="4772254"/>
            <a:ext cx="267005" cy="2670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857146" y="4619549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/ 지자체 연계</a:t>
            </a:r>
            <a:endParaRPr lang="en-US" sz="1600" dirty="0"/>
          </a:p>
        </p:txBody>
      </p:sp>
      <p:sp>
        <p:nvSpPr>
          <p:cNvPr id="23" name="Text 14"/>
          <p:cNvSpPr txBox="1"/>
          <p:nvPr/>
        </p:nvSpPr>
        <p:spPr>
          <a:xfrm>
            <a:off x="1857146" y="5048402"/>
            <a:ext cx="3620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청년정책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복지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(커뮤니티 활성화)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프로그램과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연계한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안전 매칭 솔루션 제공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6620256" y="4619549"/>
            <a:ext cx="571500" cy="571500"/>
          </a:xfrm>
          <a:prstGeom prst="roundRect">
            <a:avLst>
              <a:gd name="adj" fmla="val 85333"/>
            </a:avLst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7" descr="gen-dedup-e32c992c67dc0b0e2795a1808c1d38fc.png"/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6772046" y="4772254"/>
            <a:ext cx="267005" cy="26700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381951" y="4619549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부가 수익 (커머스)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7381951" y="5048402"/>
            <a:ext cx="3620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데이트 코스, 문화·전시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티켓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파트너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커머스 제휴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12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별도의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프리미엄 안전 인증 배지 발급 서비스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287000" y="4953305"/>
            <a:ext cx="2857500" cy="2857500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d256106b5aca2311f83daaf4848c4505.png"/>
          <p:cNvPicPr>
            <a:picLocks noChangeAspect="1"/>
          </p:cNvPicPr>
          <p:nvPr/>
        </p:nvPicPr>
        <p:blipFill>
          <a:blip r:embed="rId3"/>
          <a:srcRect t="-402" b="-402"/>
          <a:stretch/>
        </p:blipFill>
        <p:spPr>
          <a:xfrm>
            <a:off x="1714500" y="2095805"/>
            <a:ext cx="8762695" cy="38405"/>
          </a:xfrm>
          <a:prstGeom prst="rect">
            <a:avLst/>
          </a:prstGeom>
        </p:spPr>
      </p:pic>
      <p:pic>
        <p:nvPicPr>
          <p:cNvPr id="7" name="Image 1" descr="gen-dedup-3c70a31482624f47ce31b7ca879ee942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761695" y="4381805"/>
            <a:ext cx="1981505" cy="1943100"/>
          </a:xfrm>
          <a:prstGeom prst="rect">
            <a:avLst/>
          </a:prstGeom>
        </p:spPr>
      </p:pic>
      <p:pic>
        <p:nvPicPr>
          <p:cNvPr id="8" name="Image 2" descr="gen-dedup-3c70a31482624f47ce31b7ca879ee942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2933395" y="4381805"/>
            <a:ext cx="1981505" cy="1943100"/>
          </a:xfrm>
          <a:prstGeom prst="rect">
            <a:avLst/>
          </a:prstGeom>
        </p:spPr>
      </p:pic>
      <p:pic>
        <p:nvPicPr>
          <p:cNvPr id="9" name="Image 3" descr="gen-dedup-3c70a31482624f47ce31b7ca879ee942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5105095" y="4381805"/>
            <a:ext cx="1981505" cy="1943100"/>
          </a:xfrm>
          <a:prstGeom prst="rect">
            <a:avLst/>
          </a:prstGeom>
        </p:spPr>
      </p:pic>
      <p:pic>
        <p:nvPicPr>
          <p:cNvPr id="10" name="Image 4" descr="gen-dedup-3c70a31482624f47ce31b7ca879ee942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7276795" y="4381805"/>
            <a:ext cx="1981505" cy="1943100"/>
          </a:xfrm>
          <a:prstGeom prst="rect">
            <a:avLst/>
          </a:prstGeom>
        </p:spPr>
      </p:pic>
      <p:pic>
        <p:nvPicPr>
          <p:cNvPr id="11" name="Image 5" descr="gen-dedup-3c70a31482624f47ce31b7ca879ee942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9448495" y="4381805"/>
            <a:ext cx="1981505" cy="1943100"/>
          </a:xfrm>
          <a:prstGeom prst="rect">
            <a:avLst/>
          </a:prstGeom>
        </p:spPr>
      </p:pic>
      <p:pic>
        <p:nvPicPr>
          <p:cNvPr id="12" name="Image 6" descr="gen-dedup-5f76485128b1eaa7b58fe7fc5367a09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86000" y="1904695"/>
            <a:ext cx="381305" cy="381305"/>
          </a:xfrm>
          <a:prstGeom prst="rect">
            <a:avLst/>
          </a:prstGeom>
        </p:spPr>
      </p:pic>
      <p:pic>
        <p:nvPicPr>
          <p:cNvPr id="13" name="Image 7" descr="gen-dedup-5f76485128b1eaa7b58fe7fc5367a09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05195" y="1904695"/>
            <a:ext cx="381305" cy="381305"/>
          </a:xfrm>
          <a:prstGeom prst="rect">
            <a:avLst/>
          </a:prstGeom>
        </p:spPr>
      </p:pic>
      <p:pic>
        <p:nvPicPr>
          <p:cNvPr id="14" name="Image 8" descr="gen-dedup-5f76485128b1eaa7b58fe7fc5367a09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5305" y="1904695"/>
            <a:ext cx="381305" cy="381305"/>
          </a:xfrm>
          <a:prstGeom prst="rect">
            <a:avLst/>
          </a:prstGeom>
        </p:spPr>
      </p:pic>
      <p:sp>
        <p:nvSpPr>
          <p:cNvPr id="15" name="Text 4"/>
          <p:cNvSpPr txBox="1"/>
          <p:nvPr/>
        </p:nvSpPr>
        <p:spPr>
          <a:xfrm>
            <a:off x="761695" y="571500"/>
            <a:ext cx="10668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계획</a:t>
            </a:r>
            <a:endParaRPr lang="en-US" sz="3300" dirty="0"/>
          </a:p>
        </p:txBody>
      </p:sp>
      <p:sp>
        <p:nvSpPr>
          <p:cNvPr id="16" name="Text 5"/>
          <p:cNvSpPr txBox="1"/>
          <p:nvPr/>
        </p:nvSpPr>
        <p:spPr>
          <a:xfrm>
            <a:off x="761695" y="1285646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&amp; 핵심 지표 (KPI)</a:t>
            </a:r>
            <a:endParaRPr lang="en-US" sz="1600" dirty="0"/>
          </a:p>
        </p:txBody>
      </p:sp>
      <p:sp>
        <p:nvSpPr>
          <p:cNvPr id="17" name="Text 6"/>
          <p:cNvSpPr txBox="1"/>
          <p:nvPr/>
        </p:nvSpPr>
        <p:spPr>
          <a:xfrm>
            <a:off x="761695" y="2476195"/>
            <a:ext cx="3429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Q3 베타 출시</a:t>
            </a:r>
            <a:endParaRPr lang="en-US" sz="1600" dirty="0"/>
          </a:p>
        </p:txBody>
      </p:sp>
      <p:sp>
        <p:nvSpPr>
          <p:cNvPr id="18" name="Text 7"/>
          <p:cNvSpPr txBox="1"/>
          <p:nvPr/>
        </p:nvSpPr>
        <p:spPr>
          <a:xfrm>
            <a:off x="761695" y="2857500"/>
            <a:ext cx="3429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 및 주요 청년 커뮤니티 대상 한정적 파일럿 테스트 운영 및 초기 피드백 수집</a:t>
            </a:r>
            <a:endParaRPr lang="en-US" sz="1100" dirty="0"/>
          </a:p>
        </p:txBody>
      </p:sp>
      <p:sp>
        <p:nvSpPr>
          <p:cNvPr id="19" name="Text 8"/>
          <p:cNvSpPr txBox="1"/>
          <p:nvPr/>
        </p:nvSpPr>
        <p:spPr>
          <a:xfrm>
            <a:off x="4381805" y="2476195"/>
            <a:ext cx="3429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Q4 공식 론칭</a:t>
            </a:r>
            <a:endParaRPr lang="en-US" sz="1600" dirty="0"/>
          </a:p>
        </p:txBody>
      </p:sp>
      <p:sp>
        <p:nvSpPr>
          <p:cNvPr id="20" name="Text 9"/>
          <p:cNvSpPr txBox="1"/>
          <p:nvPr/>
        </p:nvSpPr>
        <p:spPr>
          <a:xfrm>
            <a:off x="4381805" y="2857500"/>
            <a:ext cx="3429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 지역 집중 마케팅을 통한 정식 서비스 개시 및 매칭 알고리즘 1차 고도화 적용</a:t>
            </a:r>
            <a:endParaRPr lang="en-US" sz="1100" dirty="0"/>
          </a:p>
        </p:txBody>
      </p:sp>
      <p:sp>
        <p:nvSpPr>
          <p:cNvPr id="21" name="Text 10"/>
          <p:cNvSpPr txBox="1"/>
          <p:nvPr/>
        </p:nvSpPr>
        <p:spPr>
          <a:xfrm>
            <a:off x="8001000" y="2476195"/>
            <a:ext cx="3429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Y+1 전국 확장</a:t>
            </a:r>
            <a:endParaRPr lang="en-US" sz="1600" dirty="0"/>
          </a:p>
        </p:txBody>
      </p:sp>
      <p:sp>
        <p:nvSpPr>
          <p:cNvPr id="22" name="Text 11"/>
          <p:cNvSpPr txBox="1"/>
          <p:nvPr/>
        </p:nvSpPr>
        <p:spPr>
          <a:xfrm>
            <a:off x="8001000" y="2857500"/>
            <a:ext cx="3429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가능 지역 전국 확대 및 주요 지자체/B2B 기업 연계 파트너십 구축 본격화</a:t>
            </a:r>
            <a:endParaRPr lang="en-US" sz="1100" dirty="0"/>
          </a:p>
        </p:txBody>
      </p:sp>
      <p:sp>
        <p:nvSpPr>
          <p:cNvPr id="23" name="Text 12"/>
          <p:cNvSpPr txBox="1"/>
          <p:nvPr/>
        </p:nvSpPr>
        <p:spPr>
          <a:xfrm>
            <a:off x="761695" y="3905402"/>
            <a:ext cx="10668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모니터링 및 달성 지표</a:t>
            </a:r>
            <a:endParaRPr lang="en-US" sz="1500" dirty="0"/>
          </a:p>
        </p:txBody>
      </p:sp>
      <p:sp>
        <p:nvSpPr>
          <p:cNvPr id="24" name="Shape 13"/>
          <p:cNvSpPr/>
          <p:nvPr/>
        </p:nvSpPr>
        <p:spPr>
          <a:xfrm>
            <a:off x="1561795" y="4762195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9" descr="gen-dedup-1f6336cd4e0fa525282815bcdbd08f92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1666951" y="4867351"/>
            <a:ext cx="171907" cy="171907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857707" y="5333695"/>
            <a:ext cx="1791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사용자(MAU)</a:t>
            </a:r>
            <a:endParaRPr lang="en-US" sz="1100" dirty="0"/>
          </a:p>
        </p:txBody>
      </p:sp>
      <p:sp>
        <p:nvSpPr>
          <p:cNvPr id="27" name="Text 15"/>
          <p:cNvSpPr txBox="1"/>
          <p:nvPr/>
        </p:nvSpPr>
        <p:spPr>
          <a:xfrm>
            <a:off x="857707" y="5581498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확보</a:t>
            </a:r>
            <a:endParaRPr lang="en-US" sz="1200" dirty="0"/>
          </a:p>
        </p:txBody>
      </p:sp>
      <p:sp>
        <p:nvSpPr>
          <p:cNvPr id="28" name="Shape 16"/>
          <p:cNvSpPr/>
          <p:nvPr/>
        </p:nvSpPr>
        <p:spPr>
          <a:xfrm>
            <a:off x="3733495" y="4762195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0" descr="gen-dedup-6f0abd4d55cd87cdf2e9ba0d155313c4.png"/>
          <p:cNvPicPr>
            <a:picLocks noChangeAspect="1"/>
          </p:cNvPicPr>
          <p:nvPr/>
        </p:nvPicPr>
        <p:blipFill>
          <a:blip r:embed="rId7"/>
          <a:srcRect t="-12500" b="-12500"/>
          <a:stretch/>
        </p:blipFill>
        <p:spPr>
          <a:xfrm>
            <a:off x="3838651" y="4867351"/>
            <a:ext cx="171907" cy="171907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3029407" y="5333695"/>
            <a:ext cx="1791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성사율</a:t>
            </a:r>
            <a:endParaRPr lang="en-US" sz="1100" dirty="0"/>
          </a:p>
        </p:txBody>
      </p:sp>
      <p:sp>
        <p:nvSpPr>
          <p:cNvPr id="31" name="Text 18"/>
          <p:cNvSpPr txBox="1"/>
          <p:nvPr/>
        </p:nvSpPr>
        <p:spPr>
          <a:xfrm>
            <a:off x="3029407" y="5581498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점진적 우상향</a:t>
            </a:r>
            <a:endParaRPr lang="en-US" sz="1200" dirty="0"/>
          </a:p>
        </p:txBody>
      </p:sp>
      <p:sp>
        <p:nvSpPr>
          <p:cNvPr id="32" name="Shape 19"/>
          <p:cNvSpPr/>
          <p:nvPr/>
        </p:nvSpPr>
        <p:spPr>
          <a:xfrm>
            <a:off x="5905195" y="4762195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11" descr="gen-dedup-154fc40a3b6a3feefc8667d5a5d0ea38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10351" y="4867351"/>
            <a:ext cx="171907" cy="171907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201107" y="5333695"/>
            <a:ext cx="1791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만남 전환율</a:t>
            </a:r>
            <a:endParaRPr lang="en-US" sz="1100" dirty="0"/>
          </a:p>
        </p:txBody>
      </p:sp>
      <p:sp>
        <p:nvSpPr>
          <p:cNvPr id="35" name="Text 21"/>
          <p:cNvSpPr txBox="1"/>
          <p:nvPr/>
        </p:nvSpPr>
        <p:spPr>
          <a:xfrm>
            <a:off x="5201107" y="5581498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 입증</a:t>
            </a:r>
            <a:endParaRPr lang="en-US" sz="1200" dirty="0"/>
          </a:p>
        </p:txBody>
      </p:sp>
      <p:sp>
        <p:nvSpPr>
          <p:cNvPr id="36" name="Shape 22"/>
          <p:cNvSpPr/>
          <p:nvPr/>
        </p:nvSpPr>
        <p:spPr>
          <a:xfrm>
            <a:off x="8076895" y="4762195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2" descr="gen-dedup-3bbcab0fe2f28826aae3bcec7c5624b2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182051" y="4867351"/>
            <a:ext cx="171907" cy="171907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7372807" y="5333695"/>
            <a:ext cx="1791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재방문율</a:t>
            </a:r>
            <a:endParaRPr lang="en-US" sz="1100" dirty="0"/>
          </a:p>
        </p:txBody>
      </p:sp>
      <p:sp>
        <p:nvSpPr>
          <p:cNvPr id="39" name="Text 24"/>
          <p:cNvSpPr txBox="1"/>
          <p:nvPr/>
        </p:nvSpPr>
        <p:spPr>
          <a:xfrm>
            <a:off x="7372807" y="5581498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가능성</a:t>
            </a:r>
            <a:endParaRPr lang="en-US" sz="1200" dirty="0"/>
          </a:p>
        </p:txBody>
      </p:sp>
      <p:sp>
        <p:nvSpPr>
          <p:cNvPr id="40" name="Shape 25"/>
          <p:cNvSpPr/>
          <p:nvPr/>
        </p:nvSpPr>
        <p:spPr>
          <a:xfrm>
            <a:off x="10248595" y="4762195"/>
            <a:ext cx="381305" cy="381305"/>
          </a:xfrm>
          <a:prstGeom prst="ellipse">
            <a:avLst/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3" descr="gen-dedup-28be14fd4425b42b2511ec89ca2f8de5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53751" y="4867351"/>
            <a:ext cx="171907" cy="171907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9544507" y="5333695"/>
            <a:ext cx="1791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내 안전사고</a:t>
            </a:r>
            <a:endParaRPr lang="en-US" sz="1100" dirty="0"/>
          </a:p>
        </p:txBody>
      </p:sp>
      <p:sp>
        <p:nvSpPr>
          <p:cNvPr id="43" name="Text 27"/>
          <p:cNvSpPr txBox="1"/>
          <p:nvPr/>
        </p:nvSpPr>
        <p:spPr>
          <a:xfrm>
            <a:off x="9544507" y="5581498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0건 지속 유지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6D35-28E7-4A86-EC8B-D312BFEB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5028A8-B3AB-F98F-A893-6FE32B0D0A1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EF150D9-5E31-2EB9-91D8-4B592137B6F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C545958-803C-DCA3-4D9F-6B51FF927C89}"/>
              </a:ext>
            </a:extLst>
          </p:cNvPr>
          <p:cNvSpPr/>
          <p:nvPr/>
        </p:nvSpPr>
        <p:spPr>
          <a:xfrm>
            <a:off x="-952805" y="2857500"/>
            <a:ext cx="2857500" cy="2857500"/>
          </a:xfrm>
          <a:prstGeom prst="ellipse">
            <a:avLst/>
          </a:prstGeom>
          <a:solidFill>
            <a:srgbClr val="FFB6C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932FD4-9D3E-6E07-1274-2BBCEBABDD16}"/>
              </a:ext>
            </a:extLst>
          </p:cNvPr>
          <p:cNvSpPr/>
          <p:nvPr/>
        </p:nvSpPr>
        <p:spPr>
          <a:xfrm>
            <a:off x="9525305" y="-476402"/>
            <a:ext cx="3333902" cy="3333902"/>
          </a:xfrm>
          <a:prstGeom prst="ellipse">
            <a:avLst/>
          </a:prstGeom>
          <a:solidFill>
            <a:srgbClr val="FF69B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C12746CF-08DD-871B-2761-4B8CBCB83CF2}"/>
              </a:ext>
            </a:extLst>
          </p:cNvPr>
          <p:cNvSpPr/>
          <p:nvPr/>
        </p:nvSpPr>
        <p:spPr>
          <a:xfrm>
            <a:off x="8477402" y="4286707"/>
            <a:ext cx="381305" cy="381305"/>
          </a:xfrm>
          <a:prstGeom prst="roundRect">
            <a:avLst>
              <a:gd name="adj" fmla="val 143885"/>
            </a:avLst>
          </a:prstGeom>
          <a:solidFill>
            <a:srgbClr val="FFE6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3267264-BE22-793F-6D30-D7261688FAA5}"/>
              </a:ext>
            </a:extLst>
          </p:cNvPr>
          <p:cNvSpPr txBox="1"/>
          <p:nvPr/>
        </p:nvSpPr>
        <p:spPr>
          <a:xfrm>
            <a:off x="3107619" y="571500"/>
            <a:ext cx="5976455" cy="3787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6000" b="1" kern="0" spc="-75" dirty="0">
                <a:solidFill>
                  <a:srgbClr val="D81B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709060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2183</Words>
  <Application>Microsoft Office PowerPoint</Application>
  <PresentationFormat>와이드스크린</PresentationFormat>
  <Paragraphs>267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user040</cp:lastModifiedBy>
  <cp:revision>11</cp:revision>
  <dcterms:created xsi:type="dcterms:W3CDTF">2026-05-22T02:12:52Z</dcterms:created>
  <dcterms:modified xsi:type="dcterms:W3CDTF">2026-05-22T06:01:05Z</dcterms:modified>
</cp:coreProperties>
</file>